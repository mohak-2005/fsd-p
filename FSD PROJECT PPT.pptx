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54" r:id="rId4"/>
  </p:sldMasterIdLst>
  <p:notesMasterIdLst>
    <p:notesMasterId r:id="rId22"/>
  </p:notesMasterIdLst>
  <p:handoutMasterIdLst>
    <p:handoutMasterId r:id="rId23"/>
  </p:handoutMasterIdLst>
  <p:sldIdLst>
    <p:sldId id="261" r:id="rId5"/>
    <p:sldId id="273" r:id="rId6"/>
    <p:sldId id="314" r:id="rId7"/>
    <p:sldId id="315" r:id="rId8"/>
    <p:sldId id="316" r:id="rId9"/>
    <p:sldId id="317" r:id="rId10"/>
    <p:sldId id="318" r:id="rId11"/>
    <p:sldId id="319" r:id="rId12"/>
    <p:sldId id="320" r:id="rId13"/>
    <p:sldId id="321" r:id="rId14"/>
    <p:sldId id="322" r:id="rId15"/>
    <p:sldId id="323" r:id="rId16"/>
    <p:sldId id="324" r:id="rId17"/>
    <p:sldId id="326" r:id="rId18"/>
    <p:sldId id="327" r:id="rId19"/>
    <p:sldId id="328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EEEEE"/>
    <a:srgbClr val="87175F"/>
    <a:srgbClr val="EEC621"/>
    <a:srgbClr val="E58C09"/>
    <a:srgbClr val="43467B"/>
    <a:srgbClr val="AEA422"/>
    <a:srgbClr val="F69E1D"/>
    <a:srgbClr val="E19E6B"/>
    <a:srgbClr val="755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4" autoAdjust="0"/>
  </p:normalViewPr>
  <p:slideViewPr>
    <p:cSldViewPr>
      <p:cViewPr varScale="1">
        <p:scale>
          <a:sx n="82" d="100"/>
          <a:sy n="82" d="100"/>
        </p:scale>
        <p:origin x="720" y="77"/>
      </p:cViewPr>
      <p:guideLst/>
    </p:cSldViewPr>
  </p:slideViewPr>
  <p:outlineViewPr>
    <p:cViewPr>
      <p:scale>
        <a:sx n="33" d="100"/>
        <a:sy n="33" d="100"/>
      </p:scale>
      <p:origin x="0" y="-208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3187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464472-DAE5-4012-9A5A-CB432293B4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86DB41-0314-4E22-8F5A-547FA67B06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3E32-5603-440A-ACDD-7442C88C5FED}" type="datetimeFigureOut">
              <a:rPr lang="en-US" smtClean="0">
                <a:latin typeface="Tw Cen MT" panose="020B0602020104020603" pitchFamily="34" charset="0"/>
              </a:rPr>
              <a:t>3/21/2026</a:t>
            </a:fld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3188E-D235-4A3B-823C-E0E10F336C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Tw Cen MT" panose="020B06020201040206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D3A68C-A1CC-4704-8503-01E13B0AED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BB1589-0F8A-400D-AEF4-57688446A2F5}" type="slidenum">
              <a:rPr lang="en-US" smtClean="0">
                <a:latin typeface="Tw Cen MT" panose="020B0602020104020603" pitchFamily="34" charset="0"/>
              </a:rPr>
              <a:t>‹#›</a:t>
            </a:fld>
            <a:endParaRPr lang="en-US"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9105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AF4A386A-BFE4-4655-9801-CBB04655F27A}" type="datetimeFigureOut">
              <a:rPr lang="en-US" noProof="0" smtClean="0"/>
              <a:pPr/>
              <a:t>3/21/2026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w Cen MT" panose="020B0602020104020603" pitchFamily="34" charset="0"/>
              </a:defRPr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w Cen MT" panose="020B0602020104020603" pitchFamily="34" charset="0"/>
              </a:defRPr>
            </a:lvl1pPr>
          </a:lstStyle>
          <a:p>
            <a:fld id="{DAE5FABD-26C8-4F74-B1E3-45BC91BC9D7B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75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Tw Cen MT" panose="020B06020201040206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79871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910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A32AF-8E2E-B65B-250E-21A432C19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3562E-F597-C149-C143-DC7B9E27A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31064-FD0D-2E4D-965D-8BFDCB2529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90C0A-6FA5-ADD0-B1C8-020ADD848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410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F8920-76AF-1BEE-CF31-D41CC772F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099F-22C8-0066-D2C4-D8B859A6C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0DB25-A249-EA5E-5F63-66EF97E82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E4EA2-AED5-0B3C-AC2F-61AEE83CD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1549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30CD-6741-F341-2A69-BE0A7BE0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1E55-9237-2D46-8621-C9FE440244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EC0E8-EA82-53F5-AD39-1FACA83C2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E6F20-25DD-100B-94F8-4E9F67746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8986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322B-40B9-6E9D-8465-7962626D3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2945A-FD50-8E26-C8EA-8CD908C139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748E7-9197-4CFC-E0C6-99FB80B5E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E34B2-8058-76BA-85F8-573CC44856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426079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0FE11-B43B-160F-5D88-9D3F8595D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C8E16-ADEE-6108-4873-FCF18AFD64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EA2CD-8A0D-6765-5C0F-C0A1A8195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F3B01-3FE4-710F-576A-E6873500F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14189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6C39-DB6F-FED0-964C-1A7A016C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13D1F-F665-4D9E-ADA3-5DC48D448D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8D6DF-6A12-DA74-12F8-2F0A1CFC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5687E-06F7-C7A8-0213-5F08786E22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32020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50E62-A088-0AE7-4F32-655D7A143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D7655F-73C4-75A8-486B-C3DA8908B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57BF3-7D09-2CCA-2FCE-C3EE9A93CA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6F20E-05EE-4239-6414-E22C315F0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26421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3E53-7E43-7F49-46F2-645E6E52F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3801CF-0DDA-E0E9-D406-F46D230A9C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1795B5-CDA7-65C6-023F-88563ECC4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02464-4810-DD40-7AAA-61DEB4A29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31721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0763E-BB1E-3F5B-3073-60D19DB8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B22B1-F404-5DD5-702F-F4ADD0BF9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558C9-7BFA-0E14-4EED-6C0D05F79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BD573-5B3F-58D7-BE5B-85179638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7996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EC587-BD27-223F-78B5-CA724385E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625AD-1759-0ED2-77B0-07B815588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6EB0A-82C8-F664-43A7-C448F6E9E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97D04-940D-E5CC-7581-19B0ECCA24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67481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EA2A4-2E45-AF26-4F55-0E70BF75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F9F9C8-6D4E-C8E8-ECB3-2180D8E77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1C83D-3778-5EBE-1E94-3C9E0795D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1EB9B-FE00-36D3-CA53-71CAB21D6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5336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007E2-1D29-127A-306D-C40D5403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121D8-F893-0FE6-5188-8F0EAE4582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E9E6D-98B5-7EB7-8C28-4929B3536D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3D027-DCC6-AE84-2883-53C98DC6A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23681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E5FABD-26C8-4F74-B1E3-45BC91BC9D7B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247467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625404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135" y="1219199"/>
            <a:ext cx="7232465" cy="2732439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134" y="4069079"/>
            <a:ext cx="502266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39208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50D09E5B-B146-4D08-82EC-846DD89B0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0462" y="0"/>
            <a:ext cx="9931338" cy="6823040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88940597-2E9A-4141-B2D0-C488487F1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3400" y="0"/>
            <a:ext cx="50863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609600"/>
            <a:ext cx="7429500" cy="56388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1905000"/>
            <a:ext cx="5864382" cy="22752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EA44EEDB-C599-41AA-9D84-D53811C28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0896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4" name="Text Placeholder 16">
            <a:extLst>
              <a:ext uri="{FF2B5EF4-FFF2-40B4-BE49-F238E27FC236}">
                <a16:creationId xmlns:a16="http://schemas.microsoft.com/office/drawing/2014/main" id="{FE574478-76DE-4613-8FBD-36B35308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68391" y="0"/>
            <a:ext cx="63502" cy="6858000"/>
          </a:xfrm>
          <a:solidFill>
            <a:schemeClr val="accent2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653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43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_DeepYellow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2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3450" y="4343400"/>
            <a:ext cx="4381500" cy="1355732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99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495801"/>
            <a:ext cx="4876800" cy="60960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318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14478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21E917-505B-493E-99EE-2E57CB332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2466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7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Emphasis-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676400"/>
            <a:ext cx="10837333" cy="424732"/>
          </a:xfrm>
          <a:solidFill>
            <a:schemeClr val="accent1"/>
          </a:solidFill>
        </p:spPr>
        <p:txBody>
          <a:bodyPr wrap="square" lIns="640080" rIns="91440">
            <a:sp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8E95652-9528-4150-8049-C40C3BB1B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059476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667000"/>
            <a:ext cx="10288693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5529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542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sea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4886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14971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2375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7665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2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53620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Blue_Triangle patc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05BCA9F-FC20-461D-9118-7EC2AC28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75958" y="0"/>
            <a:ext cx="9016043" cy="6858000"/>
          </a:xfrm>
          <a:custGeom>
            <a:avLst/>
            <a:gdLst>
              <a:gd name="connsiteX0" fmla="*/ 5153328 w 9016043"/>
              <a:gd name="connsiteY0" fmla="*/ 0 h 6858000"/>
              <a:gd name="connsiteX1" fmla="*/ 9016043 w 9016043"/>
              <a:gd name="connsiteY1" fmla="*/ 0 h 6858000"/>
              <a:gd name="connsiteX2" fmla="*/ 9016043 w 9016043"/>
              <a:gd name="connsiteY2" fmla="*/ 6858000 h 6858000"/>
              <a:gd name="connsiteX3" fmla="*/ 0 w 9016043"/>
              <a:gd name="connsiteY3" fmla="*/ 6858000 h 6858000"/>
              <a:gd name="connsiteX4" fmla="*/ 5153328 w 9016043"/>
              <a:gd name="connsiteY4" fmla="*/ 681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6043" h="6858000">
                <a:moveTo>
                  <a:pt x="5153328" y="0"/>
                </a:moveTo>
                <a:lnTo>
                  <a:pt x="9016043" y="0"/>
                </a:lnTo>
                <a:lnTo>
                  <a:pt x="9016043" y="6858000"/>
                </a:lnTo>
                <a:lnTo>
                  <a:pt x="0" y="6858000"/>
                </a:lnTo>
                <a:lnTo>
                  <a:pt x="5153328" y="68183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04092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F422E5-0916-42D9-AC79-50E4FC133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bg1"/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F869F17-9BF3-4974-956D-0CBCD60BA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4213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29399" y="2667000"/>
            <a:ext cx="5013959" cy="3660775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654DBB0-1027-4E5D-B635-00F2F173A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3771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Image_Top shape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01" y="112976"/>
            <a:ext cx="6858000" cy="6745024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E59725C5-1168-4A5F-B420-8E05620196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 rot="5400000">
            <a:off x="5238089" y="208890"/>
            <a:ext cx="6745024" cy="6553200"/>
          </a:xfrm>
          <a:gradFill flip="none" rotWithShape="1">
            <a:gsLst>
              <a:gs pos="0">
                <a:schemeClr val="bg1"/>
              </a:gs>
              <a:gs pos="82000">
                <a:schemeClr val="bg1">
                  <a:alpha val="0"/>
                </a:schemeClr>
              </a:gs>
            </a:gsLst>
            <a:lin ang="16200000" scaled="1"/>
            <a:tileRect/>
          </a:gra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2667000"/>
            <a:ext cx="5775960" cy="3660648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532AFA8-ADE4-4C3E-AF0A-235C72499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7721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  <p15:guide id="3" pos="43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horizontal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11094718" cy="1757126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709677"/>
            <a:ext cx="11094717" cy="1500876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232B29A-2701-4A73-83CF-09E0AB1B2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6410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48641" y="2667001"/>
            <a:ext cx="5775959" cy="3543552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53200" y="2667001"/>
            <a:ext cx="5090157" cy="3543552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1676400"/>
            <a:ext cx="10837333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A52166E-5DA9-4AA1-9355-E8DBFDD90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4095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617492"/>
            <a:ext cx="9890759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9FF8476-DF8C-4276-8CF6-44BC91B88C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0053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735623"/>
            <a:ext cx="111099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1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46520" y="4617492"/>
            <a:ext cx="5212080" cy="1527048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C5AD12C-F7F6-431D-ABA4-F7E37CACEA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0030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alf Image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698" y="3735622"/>
            <a:ext cx="5013960" cy="2408917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38376498-C218-4EDB-8416-A59802EF2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39000" y="1981199"/>
            <a:ext cx="4389542" cy="4163339"/>
          </a:xfrm>
          <a:solidFill>
            <a:schemeClr val="bg1"/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E93A96C6-A4F2-43F1-A47D-0D52EF29954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589520" y="2286000"/>
            <a:ext cx="3688080" cy="358140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accent2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C81B64-070E-43F3-BCB5-833AB965D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3717925"/>
            <a:ext cx="914400" cy="93027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8D5893EC-1256-429B-9581-379342C2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66431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Image Multiple images Title Two column Content and 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0" y="4176259"/>
            <a:ext cx="4343400" cy="1968280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3278423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96DE17A8-F4B7-4571-A6E8-FD28BA425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542834" y="1066801"/>
            <a:ext cx="3505199" cy="50777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9D9A0502-98A2-467D-BE1C-CE8391C73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91000" y="4343400"/>
            <a:ext cx="2743200" cy="180113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8298DB4E-3B92-4CA4-852A-9F647E721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191000" y="1066801"/>
            <a:ext cx="2743200" cy="3126023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E528B4D-15E8-4161-96F7-75D0217AD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69429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with Top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112976"/>
            <a:ext cx="12191999" cy="6745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67066A-9B9E-468B-97C6-94BF615F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AF7E6-6C19-4A41-BFA5-44C4F2A3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1124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FC59837-0A86-4467-BB38-E2AC882F3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57779-E765-4EC2-825C-B8E41285A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5181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4607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61801" y="1189969"/>
            <a:ext cx="4389542" cy="4677431"/>
          </a:xfrm>
          <a:solidFill>
            <a:schemeClr val="bg1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612321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Important Content</a:t>
            </a:r>
            <a:endParaRPr lang="en-GB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AE16EF6-8987-4193-B346-1BEA14401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2D4840-4EB5-4438-9A16-D0006A68A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64132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147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7C4BA0D-DEC0-450E-8F4D-B0E6D2D7D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16932398-C947-4474-88D6-4117EC39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2269" y="1189969"/>
            <a:ext cx="4389542" cy="4677431"/>
          </a:xfrm>
          <a:solidFill>
            <a:schemeClr val="accent2">
              <a:alpha val="88000"/>
            </a:schemeClr>
          </a:solidFill>
          <a:ln w="28575">
            <a:solidFill>
              <a:schemeClr val="accent2"/>
            </a:solidFill>
          </a:ln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8FDA84E-9F5D-4D50-8133-68FB098D713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902789" y="1494770"/>
            <a:ext cx="3688080" cy="3915430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200">
                <a:solidFill>
                  <a:schemeClr val="bg1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noProof="0"/>
              <a:t>Important Content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1AC89BA5-7D71-4838-92DC-A9DD44EC0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14DBA-0879-4C83-B4B4-EECB085A2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44196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976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527803" y="4021648"/>
            <a:ext cx="5090157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27803" y="3429000"/>
            <a:ext cx="5090157" cy="424732"/>
          </a:xfrm>
          <a:noFill/>
        </p:spPr>
        <p:txBody>
          <a:bodyPr wrap="square" lIns="91440" rIns="91440">
            <a:sp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527803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94646A1-59D8-49D7-B0E1-B7771AB22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066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ubtitle Content and half Image_Top shap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2" name="Content Placeholder 6">
            <a:extLst>
              <a:ext uri="{FF2B5EF4-FFF2-40B4-BE49-F238E27FC236}">
                <a16:creationId xmlns:a16="http://schemas.microsoft.com/office/drawing/2014/main" id="{2E79C3B8-3CB6-4D76-8182-4489C35C869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5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CBC5711-960A-4093-BF8D-E1FB5C4179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6C4C965C-0B8E-48F5-AAAC-C3237DCB2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358640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F4C1E55C-86D8-4053-9865-59D5B4F8A350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168640" y="4021648"/>
            <a:ext cx="3474720" cy="1884265"/>
          </a:xfrm>
        </p:spPr>
        <p:txBody>
          <a:bodyPr lIns="91440" rIns="9144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B68B60C-9D86-4961-A5CE-AB650CA336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68640" y="3429000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FE200E7-D3F0-41C3-92B0-E09677035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68336" y="2423061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520633DF-6AFD-4B07-9AFD-09317A9CC6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66824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2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38400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4391622"/>
            <a:ext cx="5901458" cy="975260"/>
          </a:xfrm>
        </p:spPr>
        <p:txBody>
          <a:bodyPr lIns="91440" rIns="91440" anchor="ctr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4666886"/>
            <a:ext cx="3474720" cy="424732"/>
          </a:xfrm>
          <a:noFill/>
        </p:spPr>
        <p:txBody>
          <a:bodyPr wrap="square" lIns="91440" rIns="91440">
            <a:no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4517480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2157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62600" y="2423061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24000" y="2713664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48944" y="2564258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562600" y="3556396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24000" y="3846999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48944" y="3697593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5562600" y="4689732"/>
            <a:ext cx="5901458" cy="1005939"/>
          </a:xfrm>
        </p:spPr>
        <p:txBody>
          <a:bodyPr lIns="91440" rIns="91440"/>
          <a:lstStyle>
            <a:lvl1pPr>
              <a:defRPr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4000" y="4980335"/>
            <a:ext cx="3810000" cy="424732"/>
          </a:xfrm>
          <a:noFill/>
        </p:spPr>
        <p:txBody>
          <a:bodyPr wrap="square" lIns="91440" rIns="91440" anchor="ctr">
            <a:spAutoFit/>
          </a:bodyPr>
          <a:lstStyle>
            <a:lvl1pPr marL="0" indent="0">
              <a:buNone/>
              <a:defRPr sz="24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ADDITIONAL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48944" y="4830929"/>
            <a:ext cx="711197" cy="72354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284741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Icon Content 3 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FB90DC-1879-4B22-883B-7444D1A858E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151214" y="2035302"/>
            <a:ext cx="4312844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8DAD49-E192-4934-8CF1-25E9CA66F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4840" y="2280181"/>
            <a:ext cx="49377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4" name="Picture Placeholder 7">
            <a:extLst>
              <a:ext uri="{FF2B5EF4-FFF2-40B4-BE49-F238E27FC236}">
                <a16:creationId xmlns:a16="http://schemas.microsoft.com/office/drawing/2014/main" id="{37CF37DF-A8A3-42D8-BAFE-0F56DCEC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756426" y="1935993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0" name="Content Placeholder 6">
            <a:extLst>
              <a:ext uri="{FF2B5EF4-FFF2-40B4-BE49-F238E27FC236}">
                <a16:creationId xmlns:a16="http://schemas.microsoft.com/office/drawing/2014/main" id="{36B305EA-E44E-48DA-922F-20D8D3496709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071132" y="3576256"/>
            <a:ext cx="5392925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38D7323-C655-4E9F-A5C0-AE44AF9070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8640" y="3846999"/>
            <a:ext cx="40233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22" name="Picture Placeholder 7">
            <a:extLst>
              <a:ext uri="{FF2B5EF4-FFF2-40B4-BE49-F238E27FC236}">
                <a16:creationId xmlns:a16="http://schemas.microsoft.com/office/drawing/2014/main" id="{F79C998E-1F82-4AC1-AD39-82F45A05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774508" y="350281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3FD6DDB9-4D92-43F8-B746-ABBAB109CA1E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4949699" y="5117210"/>
            <a:ext cx="6514359" cy="914490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Description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13E2F95F-BD26-4AA8-941E-3993C9F1DBB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8641" y="5362089"/>
            <a:ext cx="2956560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r">
              <a:buNone/>
              <a:defRPr sz="20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68F52DD2-B3F0-4652-8C7B-96406F99F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80392" y="5017901"/>
            <a:ext cx="1094116" cy="111310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9F57DF2-7AB9-4D3A-AADE-E93D5621B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97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018097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B9C406-BFD3-481F-9B48-3DCA3A330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518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AF3D50D-B3D8-4A41-84D8-4BE250D1B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485696" y="5181600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3401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1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6321F101-EC7B-4128-A7FA-373AC507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672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2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229667AF-39CB-43E6-8D30-A2DDF8365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001000" y="2057401"/>
            <a:ext cx="3657599" cy="2762808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 3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864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EB4CA538-2AD9-458A-B582-2FBFEAF60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857C263B-EA99-4350-84C0-08B9746AEC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01000" y="5542992"/>
            <a:ext cx="36423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</p:spTree>
    <p:extLst>
      <p:ext uri="{BB962C8B-B14F-4D97-AF65-F5344CB8AC3E}">
        <p14:creationId xmlns:p14="http://schemas.microsoft.com/office/powerpoint/2010/main" val="1184759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B4884FC-8C22-42B9-9E84-2B12AC733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751397" y="5027659"/>
            <a:ext cx="688207" cy="0"/>
          </a:xfrm>
          <a:prstGeom prst="line">
            <a:avLst/>
          </a:prstGeom>
          <a:ln w="5715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D7401DA1-CBDE-40D5-856F-25C28280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3902" y="2057402"/>
            <a:ext cx="2743197" cy="2743198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25C62A5-1A39-471E-B819-35EB9F8B0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1021" y="5307558"/>
            <a:ext cx="3108959" cy="424732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FD9C5C0-2B13-4BD9-BA25-5F692DE9E82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1021" y="5688559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71D9F8-CAE6-4680-A029-F96D0F1441FD}"/>
              </a:ext>
            </a:extLst>
          </p:cNvPr>
          <p:cNvCxnSpPr>
            <a:cxnSpLocks/>
          </p:cNvCxnSpPr>
          <p:nvPr userDrawn="1"/>
        </p:nvCxnSpPr>
        <p:spPr>
          <a:xfrm flipH="1">
            <a:off x="3907846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1598D0-210A-4FC8-9A7B-BFA0921CF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5536511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06439E2-68F5-46DF-9799-ABBEBECFD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906013" y="2754546"/>
            <a:ext cx="3254399" cy="2828600"/>
            <a:chOff x="4431264" y="2199060"/>
            <a:chExt cx="3363136" cy="28286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5E9585-55FC-4C03-8122-DED9B077D9F8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2403E01-A7A9-4801-84C2-A2B3D9B7F577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BDA24073-E1E8-43FF-B135-B2947B972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5426747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DAD1D946-AD65-4E2D-A739-D93BA1AC1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4408933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036FD13F-5CDF-4A6F-A890-1F23EA590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21" hasCustomPrompt="1"/>
          </p:nvPr>
        </p:nvSpPr>
        <p:spPr>
          <a:xfrm>
            <a:off x="6458832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EA974DF-48E5-46E7-9453-8A47028BC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7036660" y="2747071"/>
            <a:ext cx="2160050" cy="2836074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85692E-DBD5-4FD7-95CA-849C10263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8665325" y="3617080"/>
            <a:ext cx="0" cy="109728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06422F5-A2F2-43D5-84EE-F875A28A7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034827" y="2754546"/>
            <a:ext cx="3254399" cy="2828600"/>
            <a:chOff x="4431264" y="2199060"/>
            <a:chExt cx="3363136" cy="2828600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4BDD12EB-7EFD-4370-A7C6-9E57D6A7C6DF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7227429" y="1632088"/>
              <a:ext cx="0" cy="1133943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5D1AAC8-713E-418F-B7B4-27B58BDFD77C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950988" y="4507936"/>
              <a:ext cx="0" cy="1039447"/>
            </a:xfrm>
            <a:prstGeom prst="line">
              <a:avLst/>
            </a:prstGeom>
            <a:ln w="254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DEE070FD-95C9-4396-B429-69E1E14E3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55561" y="366329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Picture Placeholder 8">
            <a:extLst>
              <a:ext uri="{FF2B5EF4-FFF2-40B4-BE49-F238E27FC236}">
                <a16:creationId xmlns:a16="http://schemas.microsoft.com/office/drawing/2014/main" id="{5A9E7D40-35C3-4F7D-AAB6-D4168037C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537747" y="5090164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3" name="Picture Placeholder 8">
            <a:extLst>
              <a:ext uri="{FF2B5EF4-FFF2-40B4-BE49-F238E27FC236}">
                <a16:creationId xmlns:a16="http://schemas.microsoft.com/office/drawing/2014/main" id="{13CB6343-C37E-4656-A566-EA9A3A1BF0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587646" y="2223786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847B0A6E-95FE-4876-8783-F2D69813E0D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595850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4E9CD2A8-E96D-45CF-B252-F6F8267FF3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557415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1AE8BBFE-01C4-4028-9B89-8D3A005A4B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564282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7" name="Text Placeholder 7">
            <a:extLst>
              <a:ext uri="{FF2B5EF4-FFF2-40B4-BE49-F238E27FC236}">
                <a16:creationId xmlns:a16="http://schemas.microsoft.com/office/drawing/2014/main" id="{49C15349-435A-457E-9835-D4345AD3ED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27786" y="264360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06DC437D-C5F6-49FA-8BF0-932297827EA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89351" y="4083115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9DB16E7F-EE86-4AF9-871B-5614FE2D44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696218" y="5509983"/>
            <a:ext cx="1311814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22213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60064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864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88864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46423" y="665228"/>
            <a:ext cx="0" cy="740664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8112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204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204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6400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3492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492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44977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04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04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7259523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68794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68794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9066634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75905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75905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2609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596641" y="1981200"/>
            <a:ext cx="1523993" cy="1523994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5441" y="2618469"/>
            <a:ext cx="3108959" cy="424732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25441" y="2999470"/>
            <a:ext cx="3108959" cy="323629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112012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527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28815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469127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501029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8308140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10115251" y="3865629"/>
            <a:ext cx="1005836" cy="100583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5114385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5346798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378265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Org Char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DBF2FB3-2A18-4DFA-BE67-CBEB450840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CE973A6-10E7-4E33-AA8B-7240F919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8934421-B8F7-41B6-9EC4-5E3C49742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178095" y="1905000"/>
            <a:ext cx="1255400" cy="1255400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BACF049-4E3E-418D-9DB0-9D63BDDD25A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01136" y="2288331"/>
            <a:ext cx="3108959" cy="290097"/>
          </a:xfrm>
          <a:noFill/>
        </p:spPr>
        <p:txBody>
          <a:bodyPr wrap="square" lIns="91440" rIns="91440" anchor="ctr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ADD TEXT 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FE2AF5B-D21D-4FE5-932F-F2989F6E01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01136" y="2566041"/>
            <a:ext cx="3108959" cy="221043"/>
          </a:xfrm>
          <a:noFill/>
        </p:spPr>
        <p:txBody>
          <a:bodyPr wrap="square" lIns="91440" rIns="91440" anchor="t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6B4E82-4E92-438C-9DBD-FDAC98DB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-670561"/>
            <a:ext cx="0" cy="896112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5C2A05E4-0266-470B-94B6-0EA500EFD5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10984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8B705CE2-63BB-44EF-9494-D7197888F2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620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1C9BD3E-CCA7-4ADF-83CB-175C316AEA8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0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DC756ECA-27F0-4309-A411-2021931A3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29272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BCC1B1EE-9270-494A-B26E-3E810517012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5908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621D9997-09EF-468A-A3A6-7C2705CF17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5908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C2A50A3-3A8F-469D-B16E-A06FD4C2A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73699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065EDDEE-214F-4148-8B8C-0BA5AEF765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0055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520C0E2F-F27A-44AC-BB9A-74F62BEC575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0055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ADC5446D-3469-43DA-ACE3-2AEC5B903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546749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4BF91944-817D-4080-9FC7-1C01D3C52F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10300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B6FC5678-B04A-4631-9DFF-776737E9C8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10300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28" name="Picture Placeholder 8">
            <a:extLst>
              <a:ext uri="{FF2B5EF4-FFF2-40B4-BE49-F238E27FC236}">
                <a16:creationId xmlns:a16="http://schemas.microsoft.com/office/drawing/2014/main" id="{BF024C2A-A070-4BF1-BA78-8FDD47DED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8353860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2D75690-3F0F-4257-84B4-90CB4E6BB7E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17411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FC3E89DF-7D8F-458A-910F-B06B607998A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7411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49030BC1-7B5E-4BBD-AB44-8615DCFD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10160971" y="3352800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10ED1CED-11B2-4927-93A4-CE47939F0AE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824522" y="4327380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39E2E141-317E-41F9-853F-B96493C8FB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24522" y="4497392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69BD202-1C38-47A5-8B06-0AADB78A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6165169" y="2642433"/>
            <a:ext cx="0" cy="5564151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8">
            <a:extLst>
              <a:ext uri="{FF2B5EF4-FFF2-40B4-BE49-F238E27FC236}">
                <a16:creationId xmlns:a16="http://schemas.microsoft.com/office/drawing/2014/main" id="{68CF0B9D-069C-46BA-9B77-7BDE114F3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5" hasCustomPrompt="1"/>
          </p:nvPr>
        </p:nvSpPr>
        <p:spPr>
          <a:xfrm>
            <a:off x="29272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6EB5CB55-9BF0-4309-AA93-9540CDA1CE2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5908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4A6FF6-89E5-41B3-83AD-E1F1AC1C718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25908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1" name="Picture Placeholder 8">
            <a:extLst>
              <a:ext uri="{FF2B5EF4-FFF2-40B4-BE49-F238E27FC236}">
                <a16:creationId xmlns:a16="http://schemas.microsoft.com/office/drawing/2014/main" id="{65909E03-0C86-44C4-9260-484E8CF63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48" hasCustomPrompt="1"/>
          </p:nvPr>
        </p:nvSpPr>
        <p:spPr>
          <a:xfrm>
            <a:off x="473699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0D08C690-4C72-47C4-ADBC-6DBFC463FC37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0055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FEBB122E-6E5D-4B48-91C0-C6EB8BA3D2D9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40055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A968314E-9F6B-4D90-BC2A-C5BB6AC70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1" hasCustomPrompt="1"/>
          </p:nvPr>
        </p:nvSpPr>
        <p:spPr>
          <a:xfrm>
            <a:off x="6546749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98FF5C01-8CE1-475F-A59A-011328494F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10300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DC690F93-088F-498C-9B26-2DCE00A1145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10300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  <p:sp>
        <p:nvSpPr>
          <p:cNvPr id="47" name="Picture Placeholder 8">
            <a:extLst>
              <a:ext uri="{FF2B5EF4-FFF2-40B4-BE49-F238E27FC236}">
                <a16:creationId xmlns:a16="http://schemas.microsoft.com/office/drawing/2014/main" id="{1D462CE1-BEE9-45C4-AB54-354D05E69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8353860" y="4967309"/>
            <a:ext cx="914396" cy="914396"/>
          </a:xfrm>
          <a:prstGeom prst="ellipse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>
            <a:norm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9FA2731A-D1B2-4144-8373-12B9313F9BF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17411" y="5988389"/>
            <a:ext cx="1587295" cy="166199"/>
          </a:xfr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NAME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F61DF59D-6B27-4EC6-A151-0F9B99DC805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7411" y="6158401"/>
            <a:ext cx="1587295" cy="166199"/>
          </a:xfrm>
          <a:noFill/>
        </p:spPr>
        <p:txBody>
          <a:bodyPr wrap="square" lIns="0" tIns="0" rIns="0" bIns="0" anchor="t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1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020462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ide patch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24AA86D-A811-42CE-8C83-8053DFC66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8329286 w 8329286"/>
              <a:gd name="connsiteY2" fmla="*/ 68183 h 6858000"/>
              <a:gd name="connsiteX3" fmla="*/ 3175958 w 8329286"/>
              <a:gd name="connsiteY3" fmla="*/ 6858000 h 6858000"/>
              <a:gd name="connsiteX4" fmla="*/ 0 w 832928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8329286" y="68183"/>
                </a:lnTo>
                <a:lnTo>
                  <a:pt x="317595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42CCEE-B750-4EF9-BAE5-217844AE7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129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5F2E0-A9EE-4095-8DFC-C3BBA80FA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90600"/>
            <a:ext cx="10805160" cy="707886"/>
          </a:xfrm>
        </p:spPr>
        <p:txBody>
          <a:bodyPr lIns="91440" anchor="t">
            <a:normAutofit/>
          </a:bodyPr>
          <a:lstStyle>
            <a:lvl1pPr>
              <a:lnSpc>
                <a:spcPct val="100000"/>
              </a:lnSpc>
              <a:defRPr sz="4000" b="0">
                <a:latin typeface="+mj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0693782-2388-4647-A185-375373970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9314C5F-7D40-40CF-8951-9660A5ACE1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0005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72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270573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Caption Content_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62484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7300" y="3962400"/>
            <a:ext cx="4114800" cy="19812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4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57900" y="4114800"/>
            <a:ext cx="4876800" cy="1371602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381000" y="4840091"/>
            <a:ext cx="1219200" cy="225818"/>
          </a:xfrm>
          <a:solidFill>
            <a:schemeClr val="accent5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 rot="16200000">
            <a:off x="5029200" y="4840092"/>
            <a:ext cx="1219200" cy="225818"/>
          </a:xfrm>
          <a:solidFill>
            <a:schemeClr val="accent5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058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75266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72234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7B86D83E-A097-4B71-82C6-197A18DD3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10104322" y="3587303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A2552DEC-1A1C-4055-B5AF-D7C796522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750" y="0"/>
            <a:ext cx="11620500" cy="6591300"/>
          </a:xfrm>
          <a:solidFill>
            <a:schemeClr val="accent5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850" y="2679192"/>
            <a:ext cx="9963150" cy="1499616"/>
          </a:xfrm>
          <a:noFill/>
        </p:spPr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565D4960-2277-429C-B87B-08014535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2679192"/>
            <a:ext cx="533400" cy="1499616"/>
          </a:xfrm>
          <a:solidFill>
            <a:schemeClr val="accent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10927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489EE1C9-68AE-4BDD-B34C-9DE809C4D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>
              <a:alpha val="84000"/>
            </a:schemeClr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F89ADF8-2320-4EC3-98EA-5CB618A52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0"/>
            <a:ext cx="6781800" cy="6324600"/>
          </a:xfrm>
          <a:solidFill>
            <a:schemeClr val="tx2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825" y="2265916"/>
            <a:ext cx="5314950" cy="3488998"/>
          </a:xfrm>
          <a:noFill/>
        </p:spPr>
        <p:txBody>
          <a:bodyPr anchor="b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D12B-58A6-47D1-9B2D-697AB265C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53759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2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73FC1AA-8591-43A1-9962-1599E1A8A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482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1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160B2D8-3756-4781-A8DD-692C3F895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1070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5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EDA9EB-20CE-4EA1-9720-40FBEB456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6509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E015B08-6C1F-4B1F-8038-D3C209BA0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5378958"/>
            <a:ext cx="12191999" cy="1479041"/>
          </a:xfrm>
          <a:custGeom>
            <a:avLst/>
            <a:gdLst>
              <a:gd name="connsiteX0" fmla="*/ 8243540 w 12191999"/>
              <a:gd name="connsiteY0" fmla="*/ 0 h 1479041"/>
              <a:gd name="connsiteX1" fmla="*/ 12191999 w 12191999"/>
              <a:gd name="connsiteY1" fmla="*/ 0 h 1479041"/>
              <a:gd name="connsiteX2" fmla="*/ 12191999 w 12191999"/>
              <a:gd name="connsiteY2" fmla="*/ 1479041 h 1479041"/>
              <a:gd name="connsiteX3" fmla="*/ 0 w 12191999"/>
              <a:gd name="connsiteY3" fmla="*/ 1479041 h 1479041"/>
              <a:gd name="connsiteX4" fmla="*/ 0 w 12191999"/>
              <a:gd name="connsiteY4" fmla="*/ 344224 h 1479041"/>
              <a:gd name="connsiteX5" fmla="*/ 7982281 w 12191999"/>
              <a:gd name="connsiteY5" fmla="*/ 344224 h 147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9" h="1479041">
                <a:moveTo>
                  <a:pt x="8243540" y="0"/>
                </a:moveTo>
                <a:lnTo>
                  <a:pt x="12191999" y="0"/>
                </a:lnTo>
                <a:lnTo>
                  <a:pt x="12191999" y="1479041"/>
                </a:lnTo>
                <a:lnTo>
                  <a:pt x="0" y="1479041"/>
                </a:lnTo>
                <a:lnTo>
                  <a:pt x="0" y="344224"/>
                </a:lnTo>
                <a:lnTo>
                  <a:pt x="7982281" y="34422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A222F077-B5D5-442D-BB60-47BE1094D1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5723182"/>
          </a:xfrm>
          <a:custGeom>
            <a:avLst/>
            <a:gdLst>
              <a:gd name="connsiteX0" fmla="*/ 0 w 12192000"/>
              <a:gd name="connsiteY0" fmla="*/ 0 h 5723182"/>
              <a:gd name="connsiteX1" fmla="*/ 12192000 w 12192000"/>
              <a:gd name="connsiteY1" fmla="*/ 0 h 5723182"/>
              <a:gd name="connsiteX2" fmla="*/ 12192000 w 12192000"/>
              <a:gd name="connsiteY2" fmla="*/ 5378958 h 5723182"/>
              <a:gd name="connsiteX3" fmla="*/ 8243540 w 12192000"/>
              <a:gd name="connsiteY3" fmla="*/ 5378958 h 5723182"/>
              <a:gd name="connsiteX4" fmla="*/ 7982281 w 12192000"/>
              <a:gd name="connsiteY4" fmla="*/ 5723182 h 5723182"/>
              <a:gd name="connsiteX5" fmla="*/ 0 w 12192000"/>
              <a:gd name="connsiteY5" fmla="*/ 5723182 h 5723182"/>
              <a:gd name="connsiteX6" fmla="*/ 0 w 12192000"/>
              <a:gd name="connsiteY6" fmla="*/ 5378958 h 5723182"/>
              <a:gd name="connsiteX7" fmla="*/ 0 w 12192000"/>
              <a:gd name="connsiteY7" fmla="*/ 5265982 h 5723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723182">
                <a:moveTo>
                  <a:pt x="0" y="0"/>
                </a:moveTo>
                <a:lnTo>
                  <a:pt x="12192000" y="0"/>
                </a:lnTo>
                <a:lnTo>
                  <a:pt x="12192000" y="5378958"/>
                </a:lnTo>
                <a:lnTo>
                  <a:pt x="8243540" y="5378958"/>
                </a:lnTo>
                <a:lnTo>
                  <a:pt x="7982281" y="5723182"/>
                </a:lnTo>
                <a:lnTo>
                  <a:pt x="0" y="5723182"/>
                </a:lnTo>
                <a:lnTo>
                  <a:pt x="0" y="5378958"/>
                </a:lnTo>
                <a:lnTo>
                  <a:pt x="0" y="5265982"/>
                </a:lnTo>
                <a:close/>
              </a:path>
            </a:pathLst>
          </a:custGeom>
          <a:solidFill>
            <a:schemeClr val="accent6"/>
          </a:solidFill>
          <a:effectLst>
            <a:outerShdw blurRad="152400" dist="38100" dir="2700000" algn="tl" rotWithShape="0">
              <a:prstClr val="black">
                <a:alpha val="66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E942B-4297-4570-B120-E2ACA52D1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49" y="990600"/>
            <a:ext cx="9144000" cy="2590800"/>
          </a:xfrm>
          <a:noFill/>
        </p:spPr>
        <p:txBody>
          <a:bodyPr anchor="t">
            <a:normAutofit/>
          </a:bodyPr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E78EDD8-13BF-4551-BD7B-C04131A68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0" y="633984"/>
            <a:ext cx="304800" cy="1499616"/>
          </a:xfrm>
          <a:solidFill>
            <a:schemeClr val="bg1"/>
          </a:solidFill>
          <a:effectLst/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033509-FE6E-46FC-85C8-B777FBA2F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39840"/>
            <a:ext cx="302281" cy="365760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txBody>
          <a:bodyPr vert="horz" lIns="0" tIns="45720" rIns="0" bIns="45720" rtlCol="0" anchor="ctr"/>
          <a:lstStyle>
            <a:lvl1pPr algn="ctr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91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4016877F-9863-4CBC-B4AF-D4764DBA6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81099" y="457200"/>
            <a:ext cx="8128343" cy="6248400"/>
          </a:xfrm>
          <a:custGeom>
            <a:avLst/>
            <a:gdLst>
              <a:gd name="connsiteX0" fmla="*/ 0 w 8128343"/>
              <a:gd name="connsiteY0" fmla="*/ 0 h 6248400"/>
              <a:gd name="connsiteX1" fmla="*/ 8128343 w 8128343"/>
              <a:gd name="connsiteY1" fmla="*/ 0 h 6248400"/>
              <a:gd name="connsiteX2" fmla="*/ 8128343 w 8128343"/>
              <a:gd name="connsiteY2" fmla="*/ 3258609 h 6248400"/>
              <a:gd name="connsiteX3" fmla="*/ 5858354 w 8128343"/>
              <a:gd name="connsiteY3" fmla="*/ 6248400 h 6248400"/>
              <a:gd name="connsiteX4" fmla="*/ 0 w 8128343"/>
              <a:gd name="connsiteY4" fmla="*/ 6248400 h 624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28343" h="6248400">
                <a:moveTo>
                  <a:pt x="0" y="0"/>
                </a:moveTo>
                <a:lnTo>
                  <a:pt x="8128343" y="0"/>
                </a:lnTo>
                <a:lnTo>
                  <a:pt x="8128343" y="3258609"/>
                </a:lnTo>
                <a:lnTo>
                  <a:pt x="5858354" y="6248400"/>
                </a:lnTo>
                <a:lnTo>
                  <a:pt x="0" y="6248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None/>
              <a:defRPr lang="en-GB" sz="1800" dirty="0">
                <a:solidFill>
                  <a:schemeClr val="lt1">
                    <a:alpha val="0"/>
                  </a:schemeClr>
                </a:solidFill>
              </a:defRPr>
            </a:lvl1pPr>
          </a:lstStyle>
          <a:p>
            <a:pPr marL="0" lvl="0" algn="ctr"/>
            <a:r>
              <a:rPr lang="en-US" noProof="0"/>
              <a:t>I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9070D0C4-1F90-4B84-B84E-8285FA0A01B0}"/>
              </a:ext>
            </a:extLst>
          </p:cNvPr>
          <p:cNvSpPr/>
          <p:nvPr userDrawn="1"/>
        </p:nvSpPr>
        <p:spPr>
          <a:xfrm rot="2232448">
            <a:off x="9455741" y="-926244"/>
            <a:ext cx="131438" cy="8710488"/>
          </a:xfrm>
          <a:custGeom>
            <a:avLst/>
            <a:gdLst>
              <a:gd name="connsiteX0" fmla="*/ 0 w 131438"/>
              <a:gd name="connsiteY0" fmla="*/ 99793 h 8710488"/>
              <a:gd name="connsiteX1" fmla="*/ 131438 w 131438"/>
              <a:gd name="connsiteY1" fmla="*/ 0 h 8710488"/>
              <a:gd name="connsiteX2" fmla="*/ 131438 w 131438"/>
              <a:gd name="connsiteY2" fmla="*/ 8610694 h 8710488"/>
              <a:gd name="connsiteX3" fmla="*/ 0 w 131438"/>
              <a:gd name="connsiteY3" fmla="*/ 8710488 h 871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438" h="8710488">
                <a:moveTo>
                  <a:pt x="0" y="99793"/>
                </a:moveTo>
                <a:lnTo>
                  <a:pt x="131438" y="0"/>
                </a:lnTo>
                <a:lnTo>
                  <a:pt x="131438" y="8610694"/>
                </a:lnTo>
                <a:lnTo>
                  <a:pt x="0" y="871048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8546525-A0E6-4238-93BC-5D43C93A4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232448">
            <a:off x="9332817" y="-941780"/>
            <a:ext cx="172357" cy="8741560"/>
          </a:xfrm>
          <a:custGeom>
            <a:avLst/>
            <a:gdLst>
              <a:gd name="connsiteX0" fmla="*/ 172357 w 172357"/>
              <a:gd name="connsiteY0" fmla="*/ 0 h 8741560"/>
              <a:gd name="connsiteX1" fmla="*/ 172357 w 172357"/>
              <a:gd name="connsiteY1" fmla="*/ 8610698 h 8741560"/>
              <a:gd name="connsiteX2" fmla="*/ 0 w 172357"/>
              <a:gd name="connsiteY2" fmla="*/ 8741560 h 8741560"/>
              <a:gd name="connsiteX3" fmla="*/ 0 w 172357"/>
              <a:gd name="connsiteY3" fmla="*/ 130862 h 874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2357" h="8741560">
                <a:moveTo>
                  <a:pt x="172357" y="0"/>
                </a:moveTo>
                <a:lnTo>
                  <a:pt x="172357" y="8610698"/>
                </a:lnTo>
                <a:lnTo>
                  <a:pt x="0" y="8741560"/>
                </a:lnTo>
                <a:lnTo>
                  <a:pt x="0" y="1308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599" y="304800"/>
            <a:ext cx="8128343" cy="6248400"/>
          </a:xfr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I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8135" y="1219200"/>
            <a:ext cx="7232465" cy="903638"/>
          </a:xfrm>
        </p:spPr>
        <p:txBody>
          <a:bodyPr anchor="t">
            <a:normAutofit/>
          </a:bodyPr>
          <a:lstStyle>
            <a:lvl1pPr algn="l">
              <a:defRPr lang="en-US" sz="5000" kern="1200" cap="all" spc="100" baseline="0" dirty="0">
                <a:solidFill>
                  <a:srgbClr val="2C2E5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905A207-2310-4F94-86E5-13B4CCC359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1562101" y="-114299"/>
            <a:ext cx="304797" cy="533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914400"/>
            <a:endParaRPr lang="en-US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13448" y="34960"/>
            <a:ext cx="5178552" cy="6823040"/>
          </a:xfrm>
          <a:custGeom>
            <a:avLst/>
            <a:gdLst>
              <a:gd name="connsiteX0" fmla="*/ 5178552 w 5178552"/>
              <a:gd name="connsiteY0" fmla="*/ 0 h 6823040"/>
              <a:gd name="connsiteX1" fmla="*/ 5178552 w 5178552"/>
              <a:gd name="connsiteY1" fmla="*/ 6823040 h 6823040"/>
              <a:gd name="connsiteX2" fmla="*/ 1752601 w 5178552"/>
              <a:gd name="connsiteY2" fmla="*/ 6823040 h 6823040"/>
              <a:gd name="connsiteX3" fmla="*/ 0 w 5178552"/>
              <a:gd name="connsiteY3" fmla="*/ 6823040 h 6823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8552" h="6823040">
                <a:moveTo>
                  <a:pt x="5178552" y="0"/>
                </a:moveTo>
                <a:lnTo>
                  <a:pt x="5178552" y="6823040"/>
                </a:lnTo>
                <a:lnTo>
                  <a:pt x="1752601" y="6823040"/>
                </a:lnTo>
                <a:lnTo>
                  <a:pt x="0" y="682304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9325193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0322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18BFA80-A3BB-4316-BD6E-3E5F6B4D8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8F962CE0-5C0C-48F3-A07B-34E33D670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2057400" y="466725"/>
            <a:ext cx="703341" cy="1101901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654457EF-8A97-4FCA-9870-5095D09BF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9067800" y="46482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CC06030-90E1-4B3F-AFDF-369354FBF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solidFill>
            <a:schemeClr val="accent1">
              <a:lumMod val="75000"/>
              <a:alpha val="92000"/>
            </a:schemeClr>
          </a:solidFill>
          <a:effectLst/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63809" y="1905000"/>
            <a:ext cx="5864382" cy="2275238"/>
          </a:xfrm>
        </p:spPr>
        <p:txBody>
          <a:bodyPr anchor="ctr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8575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FC033E0E-968F-40A8-BE78-354499D7F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 rot="19594102" flipH="1">
            <a:off x="584131" y="-142449"/>
            <a:ext cx="1218268" cy="6177109"/>
          </a:xfrm>
          <a:custGeom>
            <a:avLst/>
            <a:gdLst>
              <a:gd name="connsiteX0" fmla="*/ 1114975 w 1218268"/>
              <a:gd name="connsiteY0" fmla="*/ 1688918 h 6177109"/>
              <a:gd name="connsiteX1" fmla="*/ 1114975 w 1218268"/>
              <a:gd name="connsiteY1" fmla="*/ 5441035 h 6177109"/>
              <a:gd name="connsiteX2" fmla="*/ 1218268 w 1218268"/>
              <a:gd name="connsiteY2" fmla="*/ 5372844 h 6177109"/>
              <a:gd name="connsiteX3" fmla="*/ 1218268 w 1218268"/>
              <a:gd name="connsiteY3" fmla="*/ 1845382 h 6177109"/>
              <a:gd name="connsiteX4" fmla="*/ 675740 w 1218268"/>
              <a:gd name="connsiteY4" fmla="*/ 1023583 h 6177109"/>
              <a:gd name="connsiteX5" fmla="*/ 675740 w 1218268"/>
              <a:gd name="connsiteY5" fmla="*/ 5731005 h 6177109"/>
              <a:gd name="connsiteX6" fmla="*/ 951275 w 1218268"/>
              <a:gd name="connsiteY6" fmla="*/ 5549105 h 6177109"/>
              <a:gd name="connsiteX7" fmla="*/ 951275 w 1218268"/>
              <a:gd name="connsiteY7" fmla="*/ 1440952 h 6177109"/>
              <a:gd name="connsiteX8" fmla="*/ 0 w 1218268"/>
              <a:gd name="connsiteY8" fmla="*/ 0 h 6177109"/>
              <a:gd name="connsiteX9" fmla="*/ 0 w 1218268"/>
              <a:gd name="connsiteY9" fmla="*/ 6177109 h 6177109"/>
              <a:gd name="connsiteX10" fmla="*/ 485620 w 1218268"/>
              <a:gd name="connsiteY10" fmla="*/ 5856517 h 6177109"/>
              <a:gd name="connsiteX11" fmla="*/ 485620 w 1218268"/>
              <a:gd name="connsiteY11" fmla="*/ 735597 h 6177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8268" h="6177109">
                <a:moveTo>
                  <a:pt x="1114975" y="1688918"/>
                </a:moveTo>
                <a:lnTo>
                  <a:pt x="1114975" y="5441035"/>
                </a:lnTo>
                <a:lnTo>
                  <a:pt x="1218268" y="5372844"/>
                </a:lnTo>
                <a:lnTo>
                  <a:pt x="1218268" y="1845382"/>
                </a:lnTo>
                <a:close/>
                <a:moveTo>
                  <a:pt x="675740" y="1023583"/>
                </a:moveTo>
                <a:lnTo>
                  <a:pt x="675740" y="5731005"/>
                </a:lnTo>
                <a:lnTo>
                  <a:pt x="951275" y="5549105"/>
                </a:lnTo>
                <a:lnTo>
                  <a:pt x="951275" y="1440952"/>
                </a:lnTo>
                <a:close/>
                <a:moveTo>
                  <a:pt x="0" y="0"/>
                </a:moveTo>
                <a:lnTo>
                  <a:pt x="0" y="6177109"/>
                </a:lnTo>
                <a:lnTo>
                  <a:pt x="485620" y="5856517"/>
                </a:lnTo>
                <a:lnTo>
                  <a:pt x="485620" y="735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9454D95-B362-4CB6-B706-EB2022A3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124200" y="0"/>
            <a:ext cx="9067800" cy="6858000"/>
          </a:xfrm>
          <a:custGeom>
            <a:avLst/>
            <a:gdLst>
              <a:gd name="connsiteX0" fmla="*/ 5205086 w 9067800"/>
              <a:gd name="connsiteY0" fmla="*/ 0 h 6858000"/>
              <a:gd name="connsiteX1" fmla="*/ 6957685 w 9067800"/>
              <a:gd name="connsiteY1" fmla="*/ 0 h 6858000"/>
              <a:gd name="connsiteX2" fmla="*/ 9067800 w 9067800"/>
              <a:gd name="connsiteY2" fmla="*/ 0 h 6858000"/>
              <a:gd name="connsiteX3" fmla="*/ 9067800 w 9067800"/>
              <a:gd name="connsiteY3" fmla="*/ 6827058 h 6858000"/>
              <a:gd name="connsiteX4" fmla="*/ 9044315 w 9067800"/>
              <a:gd name="connsiteY4" fmla="*/ 6858000 h 6858000"/>
              <a:gd name="connsiteX5" fmla="*/ 7291715 w 9067800"/>
              <a:gd name="connsiteY5" fmla="*/ 6858000 h 6858000"/>
              <a:gd name="connsiteX6" fmla="*/ 1752601 w 9067800"/>
              <a:gd name="connsiteY6" fmla="*/ 6858000 h 6858000"/>
              <a:gd name="connsiteX7" fmla="*/ 0 w 90678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67800" h="6858000">
                <a:moveTo>
                  <a:pt x="5205086" y="0"/>
                </a:moveTo>
                <a:lnTo>
                  <a:pt x="6957685" y="0"/>
                </a:lnTo>
                <a:lnTo>
                  <a:pt x="9067800" y="0"/>
                </a:lnTo>
                <a:lnTo>
                  <a:pt x="9067800" y="6827058"/>
                </a:lnTo>
                <a:lnTo>
                  <a:pt x="9044315" y="6858000"/>
                </a:lnTo>
                <a:lnTo>
                  <a:pt x="7291715" y="6858000"/>
                </a:lnTo>
                <a:lnTo>
                  <a:pt x="17526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3400" y="266700"/>
            <a:ext cx="5105400" cy="63246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33450" y="762000"/>
            <a:ext cx="4381500" cy="34290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V="1">
            <a:off x="314325" y="4953000"/>
            <a:ext cx="1143000" cy="1790700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4803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-Thank you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623EB06-2F79-4698-807D-96A58B4F1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329286" cy="6858000"/>
          </a:xfrm>
          <a:custGeom>
            <a:avLst/>
            <a:gdLst>
              <a:gd name="connsiteX0" fmla="*/ 0 w 8329286"/>
              <a:gd name="connsiteY0" fmla="*/ 0 h 6858000"/>
              <a:gd name="connsiteX1" fmla="*/ 8329286 w 8329286"/>
              <a:gd name="connsiteY1" fmla="*/ 0 h 6858000"/>
              <a:gd name="connsiteX2" fmla="*/ 3124200 w 8329286"/>
              <a:gd name="connsiteY2" fmla="*/ 6858000 h 6858000"/>
              <a:gd name="connsiteX3" fmla="*/ 0 w 832928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6858000">
                <a:moveTo>
                  <a:pt x="0" y="0"/>
                </a:moveTo>
                <a:lnTo>
                  <a:pt x="8329286" y="0"/>
                </a:lnTo>
                <a:lnTo>
                  <a:pt x="31242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228600" dist="38100" algn="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9E63E5-568A-4FA2-9851-E5BFA12B8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0600" y="609600"/>
            <a:ext cx="4648200" cy="5638800"/>
          </a:xfrm>
          <a:solidFill>
            <a:schemeClr val="bg1"/>
          </a:solidFill>
          <a:effectLst>
            <a:outerShdw blurRad="3556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57300" y="1447800"/>
            <a:ext cx="4114800" cy="3962400"/>
          </a:xfrm>
        </p:spPr>
        <p:txBody>
          <a:bodyPr anchor="ctr">
            <a:normAutofit/>
          </a:bodyPr>
          <a:lstStyle>
            <a:lvl1pPr algn="ctr">
              <a:defRPr sz="5000" spc="200" baseline="0"/>
            </a:lvl1pPr>
          </a:lstStyle>
          <a:p>
            <a:r>
              <a:rPr lang="en-US" dirty="0"/>
              <a:t>THANK </a:t>
            </a:r>
            <a:r>
              <a:rPr lang="en-US" dirty="0" err="1"/>
              <a:t>yOU</a:t>
            </a:r>
            <a:endParaRPr lang="en-US" dirty="0"/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D6D785D2-DAEB-48F3-AB8A-2954F03ACD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5100" y="409575"/>
            <a:ext cx="1219200" cy="400050"/>
          </a:xfr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BB42ECCE-195D-45F5-94EB-137CEFCFE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05100" y="6076950"/>
            <a:ext cx="1219200" cy="400050"/>
          </a:xfrm>
          <a:solidFill>
            <a:schemeClr val="accent2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5539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106150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2103120"/>
            <a:ext cx="11106150" cy="422148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8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9" r:id="rId2"/>
    <p:sldLayoutId id="2147483961" r:id="rId3"/>
    <p:sldLayoutId id="2147483962" r:id="rId4"/>
    <p:sldLayoutId id="2147483964" r:id="rId5"/>
    <p:sldLayoutId id="2147483958" r:id="rId6"/>
    <p:sldLayoutId id="2147483963" r:id="rId7"/>
    <p:sldLayoutId id="2147483957" r:id="rId8"/>
    <p:sldLayoutId id="2147483965" r:id="rId9"/>
    <p:sldLayoutId id="2147483966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7" r:id="rId17"/>
    <p:sldLayoutId id="2147483967" r:id="rId18"/>
    <p:sldLayoutId id="2147483968" r:id="rId19"/>
    <p:sldLayoutId id="2147483987" r:id="rId20"/>
    <p:sldLayoutId id="2147483969" r:id="rId21"/>
    <p:sldLayoutId id="2147483970" r:id="rId22"/>
    <p:sldLayoutId id="2147483971" r:id="rId23"/>
    <p:sldLayoutId id="2147483972" r:id="rId24"/>
    <p:sldLayoutId id="2147483973" r:id="rId25"/>
    <p:sldLayoutId id="2147483978" r:id="rId26"/>
    <p:sldLayoutId id="2147483974" r:id="rId27"/>
    <p:sldLayoutId id="2147483975" r:id="rId28"/>
    <p:sldLayoutId id="2147483976" r:id="rId29"/>
    <p:sldLayoutId id="2147483977" r:id="rId30"/>
    <p:sldLayoutId id="2147483988" r:id="rId31"/>
    <p:sldLayoutId id="2147483989" r:id="rId32"/>
    <p:sldLayoutId id="2147483990" r:id="rId33"/>
    <p:sldLayoutId id="2147483991" r:id="rId34"/>
    <p:sldLayoutId id="2147483992" r:id="rId35"/>
    <p:sldLayoutId id="2147483993" r:id="rId36"/>
    <p:sldLayoutId id="2147483995" r:id="rId37"/>
    <p:sldLayoutId id="2147484002" r:id="rId38"/>
    <p:sldLayoutId id="2147484003" r:id="rId39"/>
    <p:sldLayoutId id="2147484004" r:id="rId40"/>
    <p:sldLayoutId id="2147483994" r:id="rId41"/>
    <p:sldLayoutId id="2147484005" r:id="rId42"/>
    <p:sldLayoutId id="2147484006" r:id="rId43"/>
    <p:sldLayoutId id="2147483979" r:id="rId44"/>
    <p:sldLayoutId id="2147483980" r:id="rId45"/>
    <p:sldLayoutId id="2147483981" r:id="rId46"/>
    <p:sldLayoutId id="2147483982" r:id="rId47"/>
    <p:sldLayoutId id="2147483983" r:id="rId48"/>
    <p:sldLayoutId id="2147483984" r:id="rId49"/>
    <p:sldLayoutId id="2147483985" r:id="rId50"/>
    <p:sldLayoutId id="2147483986" r:id="rId51"/>
    <p:sldLayoutId id="2147484008" r:id="rId52"/>
    <p:sldLayoutId id="2147484009" r:id="rId53"/>
    <p:sldLayoutId id="2147484010" r:id="rId54"/>
    <p:sldLayoutId id="2147484011" r:id="rId55"/>
    <p:sldLayoutId id="2147484012" r:id="rId5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09890287-4DB6-4C87-AEAF-17E9594F4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7813" b="7813"/>
          <a:stretch>
            <a:fillRect/>
          </a:stretch>
        </p:blipFill>
        <p:spPr/>
      </p:pic>
      <p:sp>
        <p:nvSpPr>
          <p:cNvPr id="285" name="Text Placeholder 284">
            <a:extLst>
              <a:ext uri="{FF2B5EF4-FFF2-40B4-BE49-F238E27FC236}">
                <a16:creationId xmlns:a16="http://schemas.microsoft.com/office/drawing/2014/main" id="{C0BF9B80-F084-4423-8C1C-E79BE8298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" name="Text Placeholder 285">
            <a:extLst>
              <a:ext uri="{FF2B5EF4-FFF2-40B4-BE49-F238E27FC236}">
                <a16:creationId xmlns:a16="http://schemas.microsoft.com/office/drawing/2014/main" id="{9626180B-FF05-48CF-BFB3-C95C9B5DA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933031D-018B-489E-B613-2113C1CD2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1463040"/>
          </a:xfrm>
        </p:spPr>
        <p:txBody>
          <a:bodyPr>
            <a:normAutofit fontScale="90000"/>
          </a:bodyPr>
          <a:lstStyle/>
          <a:p>
            <a:r>
              <a:rPr lang="en-IN" dirty="0"/>
              <a:t>Full Stack Social Media Market place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6F8B2E-A7F5-4413-BEED-BFF7C3D9F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7465" y="3246120"/>
            <a:ext cx="4072586" cy="2636520"/>
          </a:xfrm>
        </p:spPr>
        <p:txBody>
          <a:bodyPr anchor="t">
            <a:noAutofit/>
          </a:bodyPr>
          <a:lstStyle/>
          <a:p>
            <a:r>
              <a:rPr lang="en-US" sz="2800" b="1" dirty="0"/>
              <a:t>Buy &amp; Sell Platform using PERN Stack</a:t>
            </a:r>
            <a:br>
              <a:rPr lang="en-US" sz="2800" b="1" dirty="0"/>
            </a:br>
            <a:endParaRPr lang="en-US" sz="2800" b="1" dirty="0"/>
          </a:p>
          <a:p>
            <a:r>
              <a:rPr lang="en-US" sz="1600" b="1" dirty="0"/>
              <a:t>Presented by: Mohak, </a:t>
            </a:r>
            <a:r>
              <a:rPr lang="en-US" sz="1600" b="1" dirty="0" err="1"/>
              <a:t>Poojam</a:t>
            </a:r>
            <a:r>
              <a:rPr lang="en-US" sz="1600" b="1" dirty="0"/>
              <a:t>, Preet, </a:t>
            </a:r>
            <a:r>
              <a:rPr lang="en-US" sz="1600" b="1" dirty="0" err="1"/>
              <a:t>Shravan,Gayatri</a:t>
            </a:r>
            <a:endParaRPr lang="en-US" sz="1600" b="1" dirty="0"/>
          </a:p>
          <a:p>
            <a:r>
              <a:rPr lang="en-US" sz="1600" b="1" dirty="0"/>
              <a:t>Panel : A</a:t>
            </a:r>
          </a:p>
          <a:p>
            <a:r>
              <a:rPr lang="en-US" sz="1600" b="1" dirty="0"/>
              <a:t>Subject : FSD-L</a:t>
            </a:r>
          </a:p>
        </p:txBody>
      </p:sp>
    </p:spTree>
    <p:extLst>
      <p:ext uri="{BB962C8B-B14F-4D97-AF65-F5344CB8AC3E}">
        <p14:creationId xmlns:p14="http://schemas.microsoft.com/office/powerpoint/2010/main" val="3135228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C965B6-7E38-4D37-8DC4-198F7E2181D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Connecting users through a digital buying-selling ecosystem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44A039-11AB-474F-8746-9A34D1C39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6E5B80C5-6B42-4867-88CC-660291DD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D2A5B748-37FD-448D-997E-B1D332658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9C3C57-5804-FBF6-24F9-59B598D0DC79}"/>
              </a:ext>
            </a:extLst>
          </p:cNvPr>
          <p:cNvSpPr txBox="1"/>
          <p:nvPr/>
        </p:nvSpPr>
        <p:spPr>
          <a:xfrm>
            <a:off x="407368" y="2276872"/>
            <a:ext cx="104299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project presents a complete full-stack social media marketplace platform designed to enable users to buy and sell products efficiently online.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developed using the PERN stack, which includes PostgreSQL, Express.js, React.js, and Node.js for scalable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integrates frontend, backend, and database components to provide a seamless and interactive user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application simulates a real-world online marketplace similar to OLX and Facebook Marketplace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main objective is to provide a fast, secure, and user-friendly platform for digital buying and selling.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472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833F-4471-1A37-D6E5-7986E2060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85DB0EC-7F58-9650-2A28-5FDFAA3C1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99" y="632940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AIM, USERS AND NEEDS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155ABAF-2AC1-DC5B-9B94-8230D1B82D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384117"/>
            <a:ext cx="10837333" cy="424732"/>
          </a:xfrm>
        </p:spPr>
        <p:txBody>
          <a:bodyPr/>
          <a:lstStyle/>
          <a:p>
            <a:r>
              <a:rPr lang="en-US" dirty="0"/>
              <a:t>Why is it required..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7CE572-7B1F-A194-4287-E2768570C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D9F93BA7-5C7B-CB81-AA8C-7616A1686E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1BEE0827-AC8E-255D-16D3-4F75CC770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09AE81-8697-C120-567E-5C6EAA6800BE}"/>
              </a:ext>
            </a:extLst>
          </p:cNvPr>
          <p:cNvSpPr txBox="1"/>
          <p:nvPr/>
        </p:nvSpPr>
        <p:spPr>
          <a:xfrm>
            <a:off x="119336" y="1881551"/>
            <a:ext cx="111624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AIM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design and develop a full-stack social media marketplace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enable users to buy and sell products easily through a web application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implement real-time interaction between buyers and sellers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understand integration of frontend, backend, and database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Target Users &amp; Needs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Buyers: Users looking to purchase products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Sellers: Individuals or businesses listing products for sale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 Users: Anyone who wants a simple and fast marketplace experience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User Needs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registration and login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Ability to add and manage product listings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 search and filtering options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Secure and reliable platform for transactions, Responsive design for mobile and desktop users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18084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8AD5-FE35-F921-1778-51A5356DA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4BFA04D-E53C-B249-112D-2E431881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713871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Project OBJECTIVES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3B5FF22-3718-EDC8-F61C-35A4FA1082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421757"/>
            <a:ext cx="11643360" cy="424732"/>
          </a:xfrm>
        </p:spPr>
        <p:txBody>
          <a:bodyPr/>
          <a:lstStyle/>
          <a:p>
            <a:r>
              <a:rPr lang="en-US" dirty="0"/>
              <a:t>Why is it being built..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B14F0-A1E7-4A55-2093-CDBE59262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DF11328D-E864-9A65-B81A-1BC23CC84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FF0CC7D8-A0CA-2188-469A-97C692873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85628D-72E4-ECD6-163D-BE19DF1145BD}"/>
              </a:ext>
            </a:extLst>
          </p:cNvPr>
          <p:cNvSpPr txBox="1"/>
          <p:nvPr/>
        </p:nvSpPr>
        <p:spPr>
          <a:xfrm>
            <a:off x="119336" y="1944993"/>
            <a:ext cx="1173730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objective of this project is to design and implement a highly responsive and interactive frontend using React to enhance user experience, improve usability, and ensure smooth navigation across different devices.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Another objective is to develop efficient backend APIs using Node.js and Express that handle user requests, process data securely, and ensure seamless communication between frontend and database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aims to implement strong authentication mechanisms such as JWT-based login systems to ensure user data security, prevent unauthorized access, and maintain privacy across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also focuses on enabling complete CRUD operations, allowing users to create, update, delete, and manage product listings easily through an intuitive and user-friendly interface.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further aims to ensure proper integration between frontend, backend, and database components to maintain consistency, reliability, and efficient overall system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Goal: Build a secure, scalable marketplace connecting buyers and sellers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5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1988-2534-63FE-9FD8-BF050FDC2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0B214F4-243B-9963-1F5E-D1EE1EF2C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TECH STACK USED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9A1302-F07D-53FD-BAF9-E988E44854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1784633" cy="424732"/>
          </a:xfrm>
        </p:spPr>
        <p:txBody>
          <a:bodyPr/>
          <a:lstStyle/>
          <a:p>
            <a:r>
              <a:rPr lang="en-US" dirty="0"/>
              <a:t>Technologies of the system..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E49742-3159-E261-30E1-D37B4E9A6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FA79E793-CFCF-258F-B2CC-F45A5B436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2F41B4C7-5BF7-E953-1F2E-4367419E03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25B6CE-862F-7B22-5765-F12572DD772C}"/>
              </a:ext>
            </a:extLst>
          </p:cNvPr>
          <p:cNvSpPr txBox="1"/>
          <p:nvPr/>
        </p:nvSpPr>
        <p:spPr>
          <a:xfrm>
            <a:off x="548640" y="2276872"/>
            <a:ext cx="51873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PostgreSQL: Relational database,</a:t>
            </a:r>
          </a:p>
          <a:p>
            <a:r>
              <a:rPr lang="en-US" dirty="0"/>
              <a:t>                       Stores structured data (users, products)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Express.js: Backend framework,</a:t>
            </a:r>
          </a:p>
          <a:p>
            <a:r>
              <a:rPr lang="en-US" dirty="0"/>
              <a:t>                     Handles API requests and routing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React.js: Frontend library,</a:t>
            </a:r>
          </a:p>
          <a:p>
            <a:r>
              <a:rPr lang="en-US" dirty="0"/>
              <a:t>                 Builds interactive UI components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Node.js: Server-side runtime,</a:t>
            </a:r>
          </a:p>
          <a:p>
            <a:r>
              <a:rPr lang="en-US" dirty="0"/>
              <a:t>                  Executes backend logic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4DF374-08B6-F8C1-9E93-96DAEB380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232" y="2231886"/>
            <a:ext cx="5984400" cy="410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9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8AAFC-40FF-B538-FE7A-A2941E5F7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2ACB0221-52A9-AF5C-67BE-CD108B9D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System Architecture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F5722F-BDDD-A68A-C73D-80E6AD1975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-1" y="1676400"/>
            <a:ext cx="11784633" cy="424732"/>
          </a:xfrm>
        </p:spPr>
        <p:txBody>
          <a:bodyPr/>
          <a:lstStyle/>
          <a:p>
            <a:r>
              <a:rPr lang="en-US" dirty="0"/>
              <a:t>Representing the system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FCF0E6-4655-5897-F58C-76021ABA7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DFDBD20F-081D-4C33-448D-00848FA03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8883A4E4-656C-741F-5246-138F189F7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3049E2-5E75-1A9F-3311-2EF214AD8FFC}"/>
              </a:ext>
            </a:extLst>
          </p:cNvPr>
          <p:cNvSpPr txBox="1"/>
          <p:nvPr/>
        </p:nvSpPr>
        <p:spPr>
          <a:xfrm>
            <a:off x="548640" y="2276872"/>
            <a:ext cx="51873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Presentation Layer:</a:t>
            </a:r>
          </a:p>
          <a:p>
            <a:r>
              <a:rPr lang="en-US" dirty="0"/>
              <a:t>     Built using React </a:t>
            </a:r>
          </a:p>
          <a:p>
            <a:r>
              <a:rPr lang="en-US" dirty="0"/>
              <a:t>     Handles user interface and interaction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Application Layer:</a:t>
            </a:r>
          </a:p>
          <a:p>
            <a:r>
              <a:rPr lang="en-US" dirty="0"/>
              <a:t>    Built using Node.js and Express </a:t>
            </a:r>
          </a:p>
          <a:p>
            <a:r>
              <a:rPr lang="en-US" dirty="0"/>
              <a:t>    Processes requests and executes business logic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Layer:</a:t>
            </a:r>
          </a:p>
          <a:p>
            <a:r>
              <a:rPr lang="en-US" dirty="0"/>
              <a:t>    PostgreSQL database </a:t>
            </a:r>
          </a:p>
          <a:p>
            <a:r>
              <a:rPr lang="en-US" dirty="0"/>
              <a:t>    Stores all application data</a:t>
            </a:r>
          </a:p>
          <a:p>
            <a:endParaRPr lang="en-US" dirty="0"/>
          </a:p>
          <a:p>
            <a:r>
              <a:rPr lang="en-US" dirty="0"/>
              <a:t>This architecture ensures </a:t>
            </a:r>
            <a:r>
              <a:rPr lang="en-US" b="1" dirty="0"/>
              <a:t>modularity, scalability, and maintainability.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B10092-7BD6-E372-E677-E78D17DCE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960" y="2366673"/>
            <a:ext cx="6048846" cy="415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67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2C446-DE35-2DBE-7FA0-B3E7BC143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6552160-D624-6BEF-06F1-57437EC93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SYSTEM WORKFLOW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2AB6E8-8231-9D86-202E-9E5FBCCD47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216069"/>
            <a:ext cx="10837333" cy="424732"/>
          </a:xfrm>
        </p:spPr>
        <p:txBody>
          <a:bodyPr/>
          <a:lstStyle/>
          <a:p>
            <a:r>
              <a:rPr lang="en-US" dirty="0"/>
              <a:t>Step by step process..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23F093-636F-23D5-28C1-C106A4DE94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2450E1CE-CBEF-6D73-3EED-C5166E0A9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8DC89198-5E6C-3B50-1E20-283009F8C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FA31055-3C78-CC75-392D-24615B718880}"/>
              </a:ext>
            </a:extLst>
          </p:cNvPr>
          <p:cNvSpPr txBox="1"/>
          <p:nvPr/>
        </p:nvSpPr>
        <p:spPr>
          <a:xfrm>
            <a:off x="479376" y="1721406"/>
            <a:ext cx="108051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1️⃣ </a:t>
            </a:r>
            <a:r>
              <a:rPr lang="en-US" b="1" dirty="0"/>
              <a:t>User Authentication : </a:t>
            </a:r>
            <a:r>
              <a:rPr lang="en-US" dirty="0"/>
              <a:t>User registers or logs in using credentials</a:t>
            </a:r>
          </a:p>
          <a:p>
            <a:r>
              <a:rPr lang="en-US" dirty="0"/>
              <a:t>    					  Backend verifies data and provides secure access</a:t>
            </a:r>
          </a:p>
          <a:p>
            <a:endParaRPr lang="en-US" dirty="0"/>
          </a:p>
          <a:p>
            <a:r>
              <a:rPr lang="en-IN" dirty="0"/>
              <a:t>2️⃣</a:t>
            </a:r>
            <a:r>
              <a:rPr lang="en-US" b="1" dirty="0"/>
              <a:t>Product Submission : </a:t>
            </a:r>
            <a:r>
              <a:rPr lang="en-US" dirty="0"/>
              <a:t>User enters product details (title, price, description, image)</a:t>
            </a:r>
          </a:p>
          <a:p>
            <a:r>
              <a:rPr lang="en-US" dirty="0"/>
              <a:t>				        Data is collected through frontend form</a:t>
            </a:r>
          </a:p>
          <a:p>
            <a:endParaRPr lang="en-US" dirty="0"/>
          </a:p>
          <a:p>
            <a:r>
              <a:rPr lang="en-IN" dirty="0"/>
              <a:t>3️⃣</a:t>
            </a:r>
            <a:r>
              <a:rPr lang="en-US" b="1" dirty="0"/>
              <a:t>API Communication : </a:t>
            </a:r>
            <a:r>
              <a:rPr lang="en-US" dirty="0"/>
              <a:t>Frontend sends request to backend using HTTP </a:t>
            </a:r>
          </a:p>
          <a:p>
            <a:r>
              <a:rPr lang="en-US" dirty="0"/>
              <a:t>				        </a:t>
            </a:r>
            <a:r>
              <a:rPr lang="en-US" dirty="0" err="1"/>
              <a:t>APIsData</a:t>
            </a:r>
            <a:r>
              <a:rPr lang="en-US" dirty="0"/>
              <a:t> is transferred in structured format (JSON)</a:t>
            </a:r>
          </a:p>
          <a:p>
            <a:endParaRPr lang="en-US" dirty="0"/>
          </a:p>
          <a:p>
            <a:r>
              <a:rPr lang="en-IN" dirty="0"/>
              <a:t>4️⃣</a:t>
            </a:r>
            <a:r>
              <a:rPr lang="en-US" b="1" dirty="0"/>
              <a:t>Backend Processing : </a:t>
            </a:r>
            <a:r>
              <a:rPr lang="en-US" dirty="0"/>
              <a:t>Backend validates input and checks user authorization</a:t>
            </a:r>
          </a:p>
          <a:p>
            <a:r>
              <a:rPr lang="en-US" dirty="0"/>
              <a:t>				        Applies business logic before storing data</a:t>
            </a:r>
          </a:p>
          <a:p>
            <a:endParaRPr lang="en-US" dirty="0"/>
          </a:p>
          <a:p>
            <a:r>
              <a:rPr lang="en-IN" dirty="0"/>
              <a:t>5️⃣</a:t>
            </a:r>
            <a:r>
              <a:rPr lang="en-US" b="1" dirty="0"/>
              <a:t>Database Storage : </a:t>
            </a:r>
            <a:r>
              <a:rPr lang="en-US" dirty="0"/>
              <a:t>Data is stored in PostgreSQL in structured tables</a:t>
            </a:r>
          </a:p>
          <a:p>
            <a:r>
              <a:rPr lang="en-US" dirty="0"/>
              <a:t>				     Ensures data consistency and reliability</a:t>
            </a:r>
          </a:p>
          <a:p>
            <a:endParaRPr lang="en-US" dirty="0"/>
          </a:p>
          <a:p>
            <a:r>
              <a:rPr lang="en-US" b="1" dirty="0"/>
              <a:t>6️⃣ Data Retrieval &amp; Display : </a:t>
            </a:r>
            <a:r>
              <a:rPr lang="en-US" dirty="0"/>
              <a:t>Other users request listings</a:t>
            </a:r>
          </a:p>
          <a:p>
            <a:r>
              <a:rPr lang="en-US" dirty="0"/>
              <a:t>						  Backend fetches data and frontend displays it dynamically</a:t>
            </a:r>
          </a:p>
        </p:txBody>
      </p:sp>
    </p:spTree>
    <p:extLst>
      <p:ext uri="{BB962C8B-B14F-4D97-AF65-F5344CB8AC3E}">
        <p14:creationId xmlns:p14="http://schemas.microsoft.com/office/powerpoint/2010/main" val="4141941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2D3CD-2676-5AF3-1129-81574D0F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CD8BF9B5-1438-1890-4925-CDD61B978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FRONTEND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E792E9-D20E-920F-064E-38608320900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216069"/>
            <a:ext cx="11618898" cy="424732"/>
          </a:xfrm>
        </p:spPr>
        <p:txBody>
          <a:bodyPr/>
          <a:lstStyle/>
          <a:p>
            <a:r>
              <a:rPr lang="en-US" dirty="0"/>
              <a:t>What all you see and experience..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9D58A8-16B9-2337-D054-AFD284BD5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2974B17E-C849-E36B-DF74-FAC0D99CC5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BD82FA10-2D95-1076-838F-250367E58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AB8FDC-1365-2AF4-70F5-CA1065EC7E4A}"/>
              </a:ext>
            </a:extLst>
          </p:cNvPr>
          <p:cNvSpPr txBox="1"/>
          <p:nvPr/>
        </p:nvSpPr>
        <p:spPr>
          <a:xfrm>
            <a:off x="407368" y="1916832"/>
            <a:ext cx="51845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frontend is developed using React, which uses a component-based architecture to create reusable UI elements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React hooks such as </a:t>
            </a:r>
            <a:r>
              <a:rPr lang="en-US" dirty="0" err="1"/>
              <a:t>useState</a:t>
            </a:r>
            <a:r>
              <a:rPr lang="en-US" dirty="0"/>
              <a:t> and </a:t>
            </a:r>
            <a:r>
              <a:rPr lang="en-US" dirty="0" err="1"/>
              <a:t>useEffect</a:t>
            </a:r>
            <a:r>
              <a:rPr lang="en-US" dirty="0"/>
              <a:t> are used to manage application state and lifecycle events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React Router is implemented to allow smooth navigation between different pages without reloading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Axios is used for making API calls and handling communication between frontend and backend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frontend ensures a dynamic, fast, and interactive user experience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8337D5B-99D2-3446-C2E0-1B8E24ABC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7968" y="1916832"/>
            <a:ext cx="5810930" cy="44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03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0FD4B-00FF-4C7B-F54B-BD58FB6B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995EBF2-7065-C240-3C1C-60EEBE37F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BACKEND FRAMEWORK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053014-CB32-B437-7088-E7DF7D4C19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216069"/>
            <a:ext cx="11618898" cy="424732"/>
          </a:xfrm>
        </p:spPr>
        <p:txBody>
          <a:bodyPr/>
          <a:lstStyle/>
          <a:p>
            <a:r>
              <a:rPr lang="en-US" dirty="0"/>
              <a:t>The backbone of the project..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3CAE44-1BBC-ABDE-F7E7-3EDFD6948F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260FBBD0-8AB9-7225-69BF-4BD0451BA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75587EB2-41C0-E588-7483-3F30ECDB0B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33335C-F652-9989-CC2C-6ABBD2E3A830}"/>
              </a:ext>
            </a:extLst>
          </p:cNvPr>
          <p:cNvSpPr txBox="1"/>
          <p:nvPr/>
        </p:nvSpPr>
        <p:spPr>
          <a:xfrm>
            <a:off x="407368" y="1916832"/>
            <a:ext cx="58326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backend is developed using Node.js and Express.js, which handle API requests and server-side logic efficiently.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processes user inputs, applies validation rules, and executes business logic before storing data in the database.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Middleware functions are used for authentication, request handling, and error management within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backend acts as a bridge between frontend and database, ensuring secure and efficient data communication.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ensures proper data flow and maintains system stability.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F738A-4F77-A3AE-2000-BCC6EFBDB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118" y="1916833"/>
            <a:ext cx="4805780" cy="442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48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D809-46BA-2BA1-1045-E42D30EAE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1304844-4076-4577-2B7B-E8317599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Database &amp; AUTHENTICATION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314C5F-88C9-0126-B0EA-6BED6FC6FEB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216069"/>
            <a:ext cx="11136560" cy="424732"/>
          </a:xfrm>
        </p:spPr>
        <p:txBody>
          <a:bodyPr/>
          <a:lstStyle/>
          <a:p>
            <a:r>
              <a:rPr lang="en-US" dirty="0"/>
              <a:t>Privacy – Not at risk..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7F0C75-5954-F9E4-36AD-2D5C514D32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C6CBA0F7-1A00-F4FF-86F4-57DE71850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46729EC6-207B-0A29-85C2-5E2C4A3C8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F13D72-B236-845D-B2DD-B100AC9E39D3}"/>
              </a:ext>
            </a:extLst>
          </p:cNvPr>
          <p:cNvSpPr txBox="1"/>
          <p:nvPr/>
        </p:nvSpPr>
        <p:spPr>
          <a:xfrm>
            <a:off x="407368" y="1916832"/>
            <a:ext cx="55446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PostgreSQL is used as a relational database that stores structured data such as users and product listings in tables.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ensures data integrity by maintaining relationships between different entities such as users and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SQL queries are used to perform operations like inserting, updating, and retrieving data efficiently.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database ensures consistency, reliability, and efficient management of large amounts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plays a crucial role in maintaining application performance and stability.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3B745-8371-F227-44DF-35B307B588D5}"/>
              </a:ext>
            </a:extLst>
          </p:cNvPr>
          <p:cNvSpPr txBox="1"/>
          <p:nvPr/>
        </p:nvSpPr>
        <p:spPr>
          <a:xfrm>
            <a:off x="6240018" y="1916832"/>
            <a:ext cx="48245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uses JWT-based authentication to ensure secure login and access control for users.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successful login, a token is generated and sent to the client for future authentication requests.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token is verified on each request to ensure that only authorized users can access protected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approach prevents unauthorized access and ensures security of sensitive user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enhances overall system security and user trust.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873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840E-AB8B-B7E7-D6D9-CAD1AE1C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9A645F1-67CF-1E0E-5769-42E55590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System DASHBOARDS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9E7E2D-C37C-CC35-E9DA-6FAF58232B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216069"/>
            <a:ext cx="11568608" cy="424732"/>
          </a:xfrm>
        </p:spPr>
        <p:txBody>
          <a:bodyPr/>
          <a:lstStyle/>
          <a:p>
            <a:r>
              <a:rPr lang="en-US" dirty="0"/>
              <a:t>What all the system offers..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D63C84-A1A1-61DE-7AAF-60D41ABDFD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138F1B9B-9C7A-F988-9720-C0330E4AB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4E693BB6-F63B-6364-502F-467B5497C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079D84-7740-9BB8-2160-82EF97164D77}"/>
              </a:ext>
            </a:extLst>
          </p:cNvPr>
          <p:cNvSpPr txBox="1"/>
          <p:nvPr/>
        </p:nvSpPr>
        <p:spPr>
          <a:xfrm>
            <a:off x="119336" y="1772543"/>
            <a:ext cx="691277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📊 1. AUTHENTICATION PAGES ::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includes </a:t>
            </a:r>
            <a:r>
              <a:rPr lang="en-US" b="1" dirty="0"/>
              <a:t>Login Page and Register Page</a:t>
            </a:r>
            <a:r>
              <a:rPr lang="en-US" dirty="0"/>
              <a:t>, where users create accounts and access the system securely.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backend validation and token-based authentication for secure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dirty="0"/>
              <a:t>👤 </a:t>
            </a:r>
            <a:r>
              <a:rPr lang="en-US" dirty="0"/>
              <a:t>2. USER DASHBOARD / HOME PAGE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the main page for normal users, where they can browse all available product listings.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search, filter, and view products dynamically fetched from the backend database.</a:t>
            </a:r>
          </a:p>
          <a:p>
            <a:endParaRPr lang="en-IN" dirty="0"/>
          </a:p>
          <a:p>
            <a:r>
              <a:rPr lang="en-IN" b="1" dirty="0"/>
              <a:t>🛒 </a:t>
            </a:r>
            <a:r>
              <a:rPr lang="en-IN" dirty="0"/>
              <a:t>3. PRODUCT LISTING / SELLER DASHBOARD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section allows sellers to add, edit, and delete their product listings.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upload product details like title, price, description, and images.</a:t>
            </a:r>
            <a:endParaRPr lang="en-IN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0CA33-7F1D-C4D3-BDF1-C1DEB807E4BA}"/>
              </a:ext>
            </a:extLst>
          </p:cNvPr>
          <p:cNvSpPr txBox="1"/>
          <p:nvPr/>
        </p:nvSpPr>
        <p:spPr>
          <a:xfrm>
            <a:off x="7176120" y="1923955"/>
            <a:ext cx="43924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📄 4. PRODUCT DETAILS PAGE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 user clicks on a product, this page shows detailed information about that specific item.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Includes description, price, seller details, and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🛠️ </a:t>
            </a:r>
            <a:r>
              <a:rPr lang="en-US" dirty="0"/>
              <a:t>5. ADMIN DASHBOARD ::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Admin can manage </a:t>
            </a:r>
            <a:r>
              <a:rPr lang="en-US" b="1" dirty="0"/>
              <a:t>users, listings, and platform activity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control over deleting inappropriate content or managing users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0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CD368-1746-FF70-30B5-BF8548FB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BASIC UI IDEA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D4E35E-33DF-D147-1A32-BD5356BF42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D4C740-E44F-D510-8F27-5F58188E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1744587"/>
            <a:ext cx="4464496" cy="4556047"/>
          </a:xfrm>
          <a:prstGeom prst="rect">
            <a:avLst/>
          </a:prstGeom>
          <a:ln w="76200">
            <a:solidFill>
              <a:schemeClr val="accent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65B1E7-B4D7-BBA8-6B22-5FF4C06F9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8486"/>
            <a:ext cx="4680520" cy="46413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15913A-AE0D-8D81-5924-9CAB3BF12FF2}"/>
              </a:ext>
            </a:extLst>
          </p:cNvPr>
          <p:cNvSpPr txBox="1"/>
          <p:nvPr/>
        </p:nvSpPr>
        <p:spPr>
          <a:xfrm>
            <a:off x="5953269" y="1698486"/>
            <a:ext cx="4824536" cy="4641354"/>
          </a:xfrm>
          <a:prstGeom prst="rect">
            <a:avLst/>
          </a:prstGeom>
          <a:noFill/>
          <a:ln w="762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189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E48BD-8092-4AC0-3404-14CCAD95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22E7-A73B-CAE0-B6B7-776418ED5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82265"/>
            <a:ext cx="10805160" cy="707886"/>
          </a:xfrm>
        </p:spPr>
        <p:txBody>
          <a:bodyPr/>
          <a:lstStyle/>
          <a:p>
            <a:pPr algn="ctr"/>
            <a:r>
              <a:rPr lang="en-IN" dirty="0"/>
              <a:t>BASIC UI IDEA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39FD47-2F01-E02A-332A-3B6B112C8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8788" y="6381328"/>
            <a:ext cx="302281" cy="360040"/>
          </a:xfrm>
        </p:spPr>
        <p:txBody>
          <a:bodyPr/>
          <a:lstStyle/>
          <a:p>
            <a:fld id="{4FAB73BC-B049-4115-A692-8D63A059BFB8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23E916-8ACB-3000-BA12-984FFAAE9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24" y="1698487"/>
            <a:ext cx="4824537" cy="46413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30E002-543F-DB69-612D-8D4BC724458C}"/>
              </a:ext>
            </a:extLst>
          </p:cNvPr>
          <p:cNvSpPr txBox="1"/>
          <p:nvPr/>
        </p:nvSpPr>
        <p:spPr>
          <a:xfrm>
            <a:off x="950126" y="1628800"/>
            <a:ext cx="4824536" cy="4711041"/>
          </a:xfrm>
          <a:prstGeom prst="rect">
            <a:avLst/>
          </a:prstGeom>
          <a:noFill/>
          <a:ln w="762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1729A3-17EF-7CF7-81E4-FEFC84798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008" y="1631638"/>
            <a:ext cx="4896544" cy="47082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37DB186-8352-BB79-8849-434156F1DE84}"/>
              </a:ext>
            </a:extLst>
          </p:cNvPr>
          <p:cNvSpPr txBox="1"/>
          <p:nvPr/>
        </p:nvSpPr>
        <p:spPr>
          <a:xfrm>
            <a:off x="6096000" y="1631638"/>
            <a:ext cx="4968552" cy="470820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486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49FDE-8370-CE52-0657-76FF4CED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04958E8-A36C-4D1A-88D4-FE370E09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KEY FEATURES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3A05AA-88C8-1E41-7AA1-C7F5939234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333400"/>
            <a:ext cx="11378262" cy="424732"/>
          </a:xfrm>
        </p:spPr>
        <p:txBody>
          <a:bodyPr/>
          <a:lstStyle/>
          <a:p>
            <a:r>
              <a:rPr lang="en-US" dirty="0"/>
              <a:t>Highlights of the project..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B7F2B-A374-37E4-1337-B361AD187D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03F3E659-697B-D695-8FB2-E62328B88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2EDA9B1F-AE4D-F146-5BAB-1512826F0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CC1FEC-7464-371E-CFED-B69E51464C14}"/>
              </a:ext>
            </a:extLst>
          </p:cNvPr>
          <p:cNvSpPr txBox="1"/>
          <p:nvPr/>
        </p:nvSpPr>
        <p:spPr>
          <a:xfrm>
            <a:off x="407368" y="1916832"/>
            <a:ext cx="1121153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provides a secure authentication mechanism that allows users to register, log in, and access personalized features safely.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Users can create, update, and delete product listings with detailed information including title, price, description, and images.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platform includes advanced search and filtering functionality that helps users quickly find products based on their preferences.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supports image uploads, enabling sellers to visually represent their products and improve user engagement.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application is fully responsive and works efficiently across different devices including mobile phones, tablets, and desktop systems.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dynamically updates product listings in real time, ensuring users always see the latest available products.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386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6253F-19E3-1120-6F10-C8824C141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5A18CEEB-04D9-0B2C-9629-AAD43DD55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FUTURE SCOPE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B278AD-A23E-7791-1096-4FD7599921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333400"/>
            <a:ext cx="11378262" cy="424732"/>
          </a:xfrm>
        </p:spPr>
        <p:txBody>
          <a:bodyPr/>
          <a:lstStyle/>
          <a:p>
            <a:r>
              <a:rPr lang="en-US" dirty="0"/>
              <a:t>A Long way ahead..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44BDF-8760-8FB1-8DC2-6AB67C489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CD29522A-196A-B0BC-7168-1213EC285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C1BCEC35-B77B-1081-74F2-5DB0E7BB8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7B585A-7216-63B1-A721-5D5123F7E670}"/>
              </a:ext>
            </a:extLst>
          </p:cNvPr>
          <p:cNvSpPr txBox="1"/>
          <p:nvPr/>
        </p:nvSpPr>
        <p:spPr>
          <a:xfrm>
            <a:off x="191344" y="1916832"/>
            <a:ext cx="111869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can be enhanced by integrating a secure payment gateway to allow users to complete transactions directly within the platform.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real-time chat system can be implemented to enable direct communication between buyers and sellers for better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Artificial Intelligence can be used to build recommendation systems that suggest products based on user preferences and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mobile application version can be developed to improve accessibility and provide a better user experience on smartphones.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Advanced analytics features can be added to track user behavior and improve system performance and personalization.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Security mechanisms can be further improved by implementing encryption and advanced authentication techniques.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4298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0EC48-4CD3-4412-40D3-F1CC89FDB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60D4B12E-3CB1-847A-3284-FC253470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02" y="567155"/>
            <a:ext cx="10805160" cy="707886"/>
          </a:xfrm>
        </p:spPr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15C2131-9086-591D-2C33-FF64C5EC11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333400"/>
            <a:ext cx="11378262" cy="424732"/>
          </a:xfrm>
        </p:spPr>
        <p:txBody>
          <a:bodyPr/>
          <a:lstStyle/>
          <a:p>
            <a:r>
              <a:rPr lang="en-US" dirty="0"/>
              <a:t>Last but not the least..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6F77BE-91C8-6E9D-DBD3-5B4F33E8B0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102" y="6339840"/>
            <a:ext cx="302281" cy="365760"/>
          </a:xfrm>
        </p:spPr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8" name="Text Placeholder 119">
            <a:extLst>
              <a:ext uri="{FF2B5EF4-FFF2-40B4-BE49-F238E27FC236}">
                <a16:creationId xmlns:a16="http://schemas.microsoft.com/office/drawing/2014/main" id="{BD5E9177-0E04-3804-D5E0-498CE2230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701647" y="6705600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170DA0D9-1633-DB23-05FF-20241DD2E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" b="88"/>
          <a:stretch/>
        </p:blipFill>
        <p:spPr>
          <a:xfrm>
            <a:off x="0" y="0"/>
            <a:ext cx="8329613" cy="457200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0E07F8-63BD-AA28-B3BC-C630009E37FF}"/>
              </a:ext>
            </a:extLst>
          </p:cNvPr>
          <p:cNvSpPr txBox="1"/>
          <p:nvPr/>
        </p:nvSpPr>
        <p:spPr>
          <a:xfrm>
            <a:off x="263352" y="1916832"/>
            <a:ext cx="111149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successfully demonstrates the development of a full-stack marketplace application using modern web technologies and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integrates frontend, backend, and database components effectively to provide a complete and functional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system offers a scalable and efficient solution for online buying and selling of products in a digital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project provides practical knowledge of PERN stack and helps in understanding real-world application development concepts.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platform can be extended further with additional features to make it suitable for commercial-level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Overall, the project highlights the importance of full-stack development in building modern and interactive web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2303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F890B92-D44D-461B-A5E6-D4F348791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976"/>
            <a:ext cx="12191999" cy="3278423"/>
          </a:xfr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94C582A2-A406-4C9B-A3DA-BA4EECAB3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en-US" b="1" dirty="0">
                <a:latin typeface="Blackadder ITC" panose="04020505051007020D02" pitchFamily="82" charset="0"/>
              </a:rPr>
              <a:t>THANK YOU VERY MUCH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29455ACD-CCC6-4BEC-AA79-DC1C69D08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56610ED-3E2D-4E6A-ABD0-150F203E6B46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 anchor="ctr">
            <a:normAutofit/>
          </a:bodyPr>
          <a:lstStyle/>
          <a:p>
            <a:r>
              <a:rPr lang="en-US" sz="4000" b="1" dirty="0">
                <a:latin typeface="Blackadder ITC" panose="04020505051007020D02" pitchFamily="82" charset="0"/>
              </a:rPr>
              <a:t>Every great application starts with a simple idea and a strong purpose.</a:t>
            </a:r>
          </a:p>
        </p:txBody>
      </p:sp>
      <p:pic>
        <p:nvPicPr>
          <p:cNvPr id="39" name="Picture Placeholder 38">
            <a:extLst>
              <a:ext uri="{FF2B5EF4-FFF2-40B4-BE49-F238E27FC236}">
                <a16:creationId xmlns:a16="http://schemas.microsoft.com/office/drawing/2014/main" id="{D15B262E-3234-4E0C-A890-B69314333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53" r="853"/>
          <a:stretch>
            <a:fillRect/>
          </a:stretch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6C6147-EB04-429F-9D41-52F18DE23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2" name="Text Placeholder 119">
            <a:extLst>
              <a:ext uri="{FF2B5EF4-FFF2-40B4-BE49-F238E27FC236}">
                <a16:creationId xmlns:a16="http://schemas.microsoft.com/office/drawing/2014/main" id="{D9043C6D-0761-489D-8401-7F976D80B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/>
        </p:nvSpPr>
        <p:spPr>
          <a:xfrm>
            <a:off x="693060" y="6641305"/>
            <a:ext cx="173736" cy="152400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45720" tIns="45720" rIns="4572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D5E95B5-674E-4A3A-A7C5-83CFC4114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29286" cy="457200"/>
          </a:xfrm>
          <a:custGeom>
            <a:avLst/>
            <a:gdLst>
              <a:gd name="connsiteX0" fmla="*/ 0 w 8329286"/>
              <a:gd name="connsiteY0" fmla="*/ 0 h 457200"/>
              <a:gd name="connsiteX1" fmla="*/ 8329286 w 8329286"/>
              <a:gd name="connsiteY1" fmla="*/ 0 h 457200"/>
              <a:gd name="connsiteX2" fmla="*/ 7982281 w 8329286"/>
              <a:gd name="connsiteY2" fmla="*/ 457200 h 457200"/>
              <a:gd name="connsiteX3" fmla="*/ 0 w 8329286"/>
              <a:gd name="connsiteY3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9286" h="457200">
                <a:moveTo>
                  <a:pt x="0" y="0"/>
                </a:moveTo>
                <a:lnTo>
                  <a:pt x="8329286" y="0"/>
                </a:lnTo>
                <a:lnTo>
                  <a:pt x="7982281" y="457200"/>
                </a:lnTo>
                <a:lnTo>
                  <a:pt x="0" y="457200"/>
                </a:lnTo>
                <a:close/>
              </a:path>
            </a:pathLst>
          </a:cu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049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ernClassicBlock-3">
  <a:themeElements>
    <a:clrScheme name="MSFT_ELT_ModernClassicBlock_03">
      <a:dk1>
        <a:sysClr val="windowText" lastClr="000000"/>
      </a:dk1>
      <a:lt1>
        <a:sysClr val="window" lastClr="FFFFFF"/>
      </a:lt1>
      <a:dk2>
        <a:srgbClr val="43467B"/>
      </a:dk2>
      <a:lt2>
        <a:srgbClr val="DFE3E5"/>
      </a:lt2>
      <a:accent1>
        <a:srgbClr val="43467B"/>
      </a:accent1>
      <a:accent2>
        <a:srgbClr val="E58C09"/>
      </a:accent2>
      <a:accent3>
        <a:srgbClr val="2683C6"/>
      </a:accent3>
      <a:accent4>
        <a:srgbClr val="EEC621"/>
      </a:accent4>
      <a:accent5>
        <a:srgbClr val="1D9BA1"/>
      </a:accent5>
      <a:accent6>
        <a:srgbClr val="87175F"/>
      </a:accent6>
      <a:hlink>
        <a:srgbClr val="0070C0"/>
      </a:hlink>
      <a:folHlink>
        <a:srgbClr val="C00000"/>
      </a:folHlink>
    </a:clrScheme>
    <a:fontScheme name="MSFT_ELT_ModernClassicBlock_03">
      <a:majorFont>
        <a:latin typeface="Tw Cen MT Condensed"/>
        <a:ea typeface=""/>
        <a:cs typeface=""/>
      </a:majorFont>
      <a:minorFont>
        <a:latin typeface="Tw Cen MT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LT_Template_ModernClassicBlockLT_v4" id="{30DDF308-B484-4DB0-8959-4BA762476498}" vid="{49FD44A8-5F40-4E6E-BC83-04BD3C4DB2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9fc9171bb41dc08635275f351de8590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29387215989a890c06011de04edfe97d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A86D9CC-0D9D-4BFE-B3F3-26F480BF8C8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8106BD98-E608-40A1-98A8-93D5976215C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FCA5F6-1A5A-4D78-BDE2-C793B61E0E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classic block presentation</Template>
  <TotalTime>94</TotalTime>
  <Words>1664</Words>
  <Application>Microsoft Office PowerPoint</Application>
  <PresentationFormat>Widescreen</PresentationFormat>
  <Paragraphs>224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Blackadder ITC</vt:lpstr>
      <vt:lpstr>Tw Cen MT</vt:lpstr>
      <vt:lpstr>Tw Cen MT Condensed</vt:lpstr>
      <vt:lpstr>Wingdings 3</vt:lpstr>
      <vt:lpstr>ModernClassicBlock-3</vt:lpstr>
      <vt:lpstr>Full Stack Social Media Market place  </vt:lpstr>
      <vt:lpstr>PROBLEM STATEMENT</vt:lpstr>
      <vt:lpstr>AIM, USERS AND NEEDS</vt:lpstr>
      <vt:lpstr>Project OBJECTIVES</vt:lpstr>
      <vt:lpstr>TECH STACK USED</vt:lpstr>
      <vt:lpstr>System Architecture</vt:lpstr>
      <vt:lpstr>SYSTEM WORKFLOW</vt:lpstr>
      <vt:lpstr>FRONTEND FRAMEWORK</vt:lpstr>
      <vt:lpstr>BACKEND FRAMEWORK</vt:lpstr>
      <vt:lpstr>Database &amp; AUTHENTICATION</vt:lpstr>
      <vt:lpstr>System DASHBOARDS</vt:lpstr>
      <vt:lpstr>BASIC UI IDEA</vt:lpstr>
      <vt:lpstr>BASIC UI IDEA</vt:lpstr>
      <vt:lpstr>KEY FEATURES</vt:lpstr>
      <vt:lpstr>FUTURE SCOPE</vt:lpstr>
      <vt:lpstr>CONCLUSION</vt:lpstr>
      <vt:lpstr>THANK YOU VERY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mohakgujarathi@outlook.com</dc:creator>
  <cp:lastModifiedBy>mohakgujarathi@outlook.com</cp:lastModifiedBy>
  <cp:revision>4</cp:revision>
  <dcterms:created xsi:type="dcterms:W3CDTF">2026-03-21T05:10:23Z</dcterms:created>
  <dcterms:modified xsi:type="dcterms:W3CDTF">2026-03-21T10:09:04Z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